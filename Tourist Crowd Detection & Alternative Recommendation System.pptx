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96" r:id="rId2"/>
    <p:sldId id="295" r:id="rId3"/>
    <p:sldId id="265" r:id="rId4"/>
    <p:sldId id="267" r:id="rId5"/>
    <p:sldId id="269" r:id="rId6"/>
    <p:sldId id="272" r:id="rId7"/>
    <p:sldId id="275" r:id="rId8"/>
    <p:sldId id="279" r:id="rId9"/>
    <p:sldId id="281" r:id="rId10"/>
    <p:sldId id="283" r:id="rId11"/>
    <p:sldId id="284" r:id="rId12"/>
    <p:sldId id="285" r:id="rId13"/>
    <p:sldId id="286" r:id="rId14"/>
    <p:sldId id="290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2174-240B-4193-8BD4-2F289E85E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C2B62-2992-7053-3BBF-840F85592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F12E2-7ACC-0620-A4B3-4CCFBFB2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3739C-843A-44D8-900D-724D87159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12C59-36AD-2967-DE96-ACC5D831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87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3B57-E546-3E5A-198F-9AE6293D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1D184-5687-03FF-CFB1-226ECBC29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D5CAD-B55B-C0AE-B028-0062392F3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75575-E32C-B993-2EEC-6DB4F4EE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079B0-0422-E3D9-D191-2179C024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66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1DCFD-E4E1-795A-AF79-5A296F901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0A68D-9523-D836-DBE8-691267A1E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FF302-C771-F2DA-0836-2D75B7DB7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BA265-62D0-4E28-30B3-F67C0382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13C54-DEBB-5622-CF17-16CA50A3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7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412E-CAE5-836A-6B00-6B45F5D3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0020E-F49B-3BF9-DB8D-80D4678FE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D34FA-2BB9-34A8-10D1-DBEFAF78C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7E4B9-2FFF-DAD8-7E9A-32AD7793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D2B40-3D2D-BC82-3FE5-BB858F8C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B36A0-837C-BC67-20E8-283F08F6E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85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13A45-4828-E72F-F39E-63246209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D8096-BF39-6056-E1BA-5DA8195C5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FC586-08B6-2DF3-F27C-D5B29C225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917D7-7756-32E6-BA88-C5646716C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019B8F-CEE7-1D4B-82F9-10F937981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92F25-A5EA-EB65-C104-0A63B65C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395C64-A8D0-7156-1586-0D84B40C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C69EA2-187E-47C2-8ABB-B59AAAAD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59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040AA-8643-BF12-5625-8A3413AFF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D68C9-DEA9-D956-DAEF-C5E7F2DF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8AEE0-CCBF-18EE-B580-4A8A41E3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A993D-FB3B-6DD8-59E4-B2BE49F0A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6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DD7DC-58C3-DFDD-D500-3961F1AA7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77D19-0224-E660-FB62-D21ABB16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6D9CF-052D-933F-E6B4-55A0B800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87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B183-DCD5-3241-AF41-07DA86DC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04B04-9426-7DEC-AC96-F04261DC8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6D48F-8D2F-A086-25EF-2D31BFAE0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27093-FA28-5A0A-B4BA-73A2E020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21CB6-D46E-78D9-3F48-567C6FB44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8FFC1-9135-3BD4-1449-6222C89D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4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CF93-EE3D-3FC5-6FDF-31FB5B71E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FF3-39B2-6E0A-C8C8-D0622188E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DF66F-55AF-8B9F-73BE-433EEABFE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559DD-0064-F130-08D5-10113F7C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3C26B-A58D-8CD1-3D7D-29AA8078E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D67C8-AE54-5B11-D0CF-665DFA3B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871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833F6-05EB-6225-F156-40ABCE7ED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CE7DB-B40E-7152-0DB4-615E7F385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C643D-A9A0-7CDD-33F5-C2EA69CE0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13CE0-6223-77CA-F5D1-EEDEF9B8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D4F2-E632-94FF-AB43-F7F2B738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61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F00F7-038F-6C69-E407-7C92D6D69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0A170-6CD0-D4CC-9882-E71324424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DF06B-12A3-EA3F-C235-A622B371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30565-AE6B-F2B3-38F3-B9A518C15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92A50-D1DA-15EA-E56A-ABB6ACF4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21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8DADA-4CDC-D0AB-CCC9-51ED8B9B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BE851-0818-7E9D-FEEB-EC53E2BA9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AAE33-915F-B35A-1230-4787874C8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75A93-F72D-4070-8CB8-206C5E9EFCE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186D7-93B6-49B2-AE0C-8ABA8028A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69016-FCB8-9962-6AC2-2F37F4374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3538A-A338-4C75-A4DC-37EB39BC19B3}" type="slidenum">
              <a:rPr lang="en-IN" smtClean="0"/>
              <a:t>‹#›</a:t>
            </a:fld>
            <a:endParaRPr lang="en-IN"/>
          </a:p>
        </p:txBody>
      </p:sp>
      <p:sp>
        <p:nvSpPr>
          <p:cNvPr id="901" name="Accent Bar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9693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F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324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2AD5-397D-B6FF-0701-ACB2BC154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0F1F2E"/>
                </a:solidFill>
              </a:rPr>
              <a:t>Tourist Crowd Detection &amp; Alternative Recommendation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5FB23-814D-4764-AEA1-04F8D652D4A1}"/>
              </a:ext>
            </a:extLst>
          </p:cNvPr>
          <p:cNvSpPr txBox="1"/>
          <p:nvPr/>
        </p:nvSpPr>
        <p:spPr>
          <a:xfrm>
            <a:off x="1524000" y="762000"/>
            <a:ext cx="9144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sv-SE" sz="1300" b="1" dirty="0">
                <a:solidFill>
                  <a:srgbClr val="1B998B"/>
                </a:solidFill>
              </a:rPr>
              <a:t>SMART INDIA HACKATHON ....PROBLEM STATEMENT PITCH</a:t>
            </a:r>
            <a:endParaRPr lang="en-IN" sz="1300" b="1" dirty="0">
              <a:solidFill>
                <a:srgbClr val="1B998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413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B432-9448-7D0A-BDC3-D198A5A8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b="1" dirty="0">
                <a:solidFill>
                  <a:srgbClr val="0F1F2E"/>
                </a:solidFill>
              </a:rPr>
              <a:t>The Problem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9430956-C54A-4A5A-A0EE-A9AE36D55A04}"/>
              </a:ext>
            </a:extLst>
          </p:cNvPr>
          <p:cNvSpPr/>
          <p:nvPr/>
        </p:nvSpPr>
        <p:spPr>
          <a:xfrm>
            <a:off x="508000" y="1905000"/>
            <a:ext cx="2133600" cy="1651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E2574C"/>
                </a:solidFill>
              </a:rPr>
              <a:t>121</a:t>
            </a:r>
          </a:p>
          <a:p>
            <a:pPr algn="ctr">
              <a:spcAft>
                <a:spcPts val="200"/>
              </a:spcAft>
            </a:pPr>
            <a:r>
              <a:rPr lang="en-US" sz="1400" dirty="0">
                <a:solidFill>
                  <a:srgbClr val="13324B"/>
                </a:solidFill>
              </a:rPr>
              <a:t>dead</a:t>
            </a:r>
          </a:p>
          <a:p>
            <a:pPr algn="ctr">
              <a:spcAft>
                <a:spcPts val="100"/>
              </a:spcAft>
            </a:pPr>
            <a:r>
              <a:rPr lang="en-US" sz="1400" b="1" dirty="0">
                <a:solidFill>
                  <a:srgbClr val="0F1F2E"/>
                </a:solidFill>
              </a:rPr>
              <a:t>Hathras</a:t>
            </a:r>
          </a:p>
          <a:p>
            <a:pPr algn="ctr"/>
            <a:r>
              <a:rPr lang="en-US" sz="1400" dirty="0">
                <a:solidFill>
                  <a:srgbClr val="5A6B78"/>
                </a:solidFill>
              </a:rPr>
              <a:t>religious gathering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5BB432-7C70-46BA-9765-9475B9EC7CB4}"/>
              </a:ext>
            </a:extLst>
          </p:cNvPr>
          <p:cNvSpPr/>
          <p:nvPr/>
        </p:nvSpPr>
        <p:spPr>
          <a:xfrm>
            <a:off x="2768600" y="1905000"/>
            <a:ext cx="2133600" cy="1651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E2574C"/>
                </a:solidFill>
              </a:rPr>
              <a:t>30+</a:t>
            </a:r>
          </a:p>
          <a:p>
            <a:pPr algn="ctr">
              <a:spcAft>
                <a:spcPts val="200"/>
              </a:spcAft>
            </a:pPr>
            <a:r>
              <a:rPr lang="en-US" sz="1400" dirty="0">
                <a:solidFill>
                  <a:srgbClr val="13324B"/>
                </a:solidFill>
              </a:rPr>
              <a:t>dead</a:t>
            </a:r>
          </a:p>
          <a:p>
            <a:pPr algn="ctr">
              <a:spcAft>
                <a:spcPts val="100"/>
              </a:spcAft>
            </a:pPr>
            <a:r>
              <a:rPr lang="en-US" sz="1400" b="1" dirty="0">
                <a:solidFill>
                  <a:srgbClr val="0F1F2E"/>
                </a:solidFill>
              </a:rPr>
              <a:t>Kumbh Mela</a:t>
            </a:r>
          </a:p>
          <a:p>
            <a:pPr algn="ctr"/>
            <a:r>
              <a:rPr lang="en-US" sz="1400" dirty="0">
                <a:solidFill>
                  <a:srgbClr val="5A6B78"/>
                </a:solidFill>
              </a:rPr>
              <a:t>pilgrimage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A5F7A2-8363-4C28-9AAA-AB68AE3836D2}"/>
              </a:ext>
            </a:extLst>
          </p:cNvPr>
          <p:cNvSpPr/>
          <p:nvPr/>
        </p:nvSpPr>
        <p:spPr>
          <a:xfrm>
            <a:off x="5029200" y="1905000"/>
            <a:ext cx="2133600" cy="1651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E2574C"/>
                </a:solidFill>
              </a:rPr>
              <a:t>41</a:t>
            </a:r>
          </a:p>
          <a:p>
            <a:pPr algn="ctr">
              <a:spcAft>
                <a:spcPts val="200"/>
              </a:spcAft>
            </a:pPr>
            <a:r>
              <a:rPr lang="en-US" sz="1400" dirty="0">
                <a:solidFill>
                  <a:srgbClr val="13324B"/>
                </a:solidFill>
              </a:rPr>
              <a:t>dead</a:t>
            </a:r>
          </a:p>
          <a:p>
            <a:pPr algn="ctr">
              <a:spcAft>
                <a:spcPts val="100"/>
              </a:spcAft>
            </a:pPr>
            <a:r>
              <a:rPr lang="en-US" sz="1400" b="1" dirty="0">
                <a:solidFill>
                  <a:srgbClr val="0F1F2E"/>
                </a:solidFill>
              </a:rPr>
              <a:t>Karur</a:t>
            </a:r>
          </a:p>
          <a:p>
            <a:pPr algn="ctr"/>
            <a:r>
              <a:rPr lang="en-US" sz="1400" dirty="0">
                <a:solidFill>
                  <a:srgbClr val="5A6B78"/>
                </a:solidFill>
              </a:rPr>
              <a:t>political rally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86187C-980D-430F-9A55-C2D4FD616994}"/>
              </a:ext>
            </a:extLst>
          </p:cNvPr>
          <p:cNvSpPr/>
          <p:nvPr/>
        </p:nvSpPr>
        <p:spPr>
          <a:xfrm>
            <a:off x="7289800" y="1905000"/>
            <a:ext cx="2133600" cy="1651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E2574C"/>
                </a:solidFill>
              </a:rPr>
              <a:t>11</a:t>
            </a:r>
          </a:p>
          <a:p>
            <a:pPr algn="ctr">
              <a:spcAft>
                <a:spcPts val="200"/>
              </a:spcAft>
            </a:pPr>
            <a:r>
              <a:rPr lang="en-US" sz="1400" dirty="0">
                <a:solidFill>
                  <a:srgbClr val="13324B"/>
                </a:solidFill>
              </a:rPr>
              <a:t>dead</a:t>
            </a:r>
          </a:p>
          <a:p>
            <a:pPr algn="ctr">
              <a:spcAft>
                <a:spcPts val="100"/>
              </a:spcAft>
            </a:pPr>
            <a:r>
              <a:rPr lang="en-US" sz="1400" b="1" dirty="0">
                <a:solidFill>
                  <a:srgbClr val="0F1F2E"/>
                </a:solidFill>
              </a:rPr>
              <a:t>Bengaluru</a:t>
            </a:r>
          </a:p>
          <a:p>
            <a:pPr algn="ctr"/>
            <a:r>
              <a:rPr lang="en-US" sz="1400" dirty="0">
                <a:solidFill>
                  <a:srgbClr val="5A6B78"/>
                </a:solidFill>
              </a:rPr>
              <a:t>stadium celebration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AACBBA-D566-4C11-9C09-DB3458F0DE2D}"/>
              </a:ext>
            </a:extLst>
          </p:cNvPr>
          <p:cNvSpPr/>
          <p:nvPr/>
        </p:nvSpPr>
        <p:spPr>
          <a:xfrm>
            <a:off x="9550400" y="1905000"/>
            <a:ext cx="2133600" cy="1651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3200" b="1" dirty="0">
                <a:solidFill>
                  <a:srgbClr val="E2574C"/>
                </a:solidFill>
              </a:rPr>
              <a:t>6</a:t>
            </a:r>
          </a:p>
          <a:p>
            <a:pPr algn="ctr">
              <a:spcAft>
                <a:spcPts val="200"/>
              </a:spcAft>
            </a:pPr>
            <a:r>
              <a:rPr lang="en-US" sz="1400" dirty="0">
                <a:solidFill>
                  <a:srgbClr val="13324B"/>
                </a:solidFill>
              </a:rPr>
              <a:t>dead</a:t>
            </a:r>
          </a:p>
          <a:p>
            <a:pPr algn="ctr">
              <a:spcAft>
                <a:spcPts val="100"/>
              </a:spcAft>
            </a:pPr>
            <a:r>
              <a:rPr lang="en-US" sz="1400" b="1" dirty="0">
                <a:solidFill>
                  <a:srgbClr val="0F1F2E"/>
                </a:solidFill>
              </a:rPr>
              <a:t>Tirumala</a:t>
            </a:r>
          </a:p>
          <a:p>
            <a:pPr algn="ctr"/>
            <a:r>
              <a:rPr lang="en-US" sz="1400" dirty="0">
                <a:solidFill>
                  <a:srgbClr val="5A6B78"/>
                </a:solidFill>
              </a:rPr>
              <a:t>temple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4A267F-ECFF-4E06-A3E2-3E494C9D0D98}"/>
              </a:ext>
            </a:extLst>
          </p:cNvPr>
          <p:cNvSpPr/>
          <p:nvPr/>
        </p:nvSpPr>
        <p:spPr>
          <a:xfrm>
            <a:off x="838200" y="3810000"/>
            <a:ext cx="10515600" cy="25400"/>
          </a:xfrm>
          <a:prstGeom prst="rect">
            <a:avLst/>
          </a:prstGeom>
          <a:solidFill>
            <a:srgbClr val="D8DEE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1E7619-3500-43C3-9192-4A7D441A2880}"/>
              </a:ext>
            </a:extLst>
          </p:cNvPr>
          <p:cNvSpPr txBox="1"/>
          <p:nvPr/>
        </p:nvSpPr>
        <p:spPr>
          <a:xfrm>
            <a:off x="838200" y="40132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0F1F2E"/>
                </a:solidFill>
              </a:rPr>
              <a:t>This system does not claim to prevent mass-casualty stampedes — different scale, different mechanism.</a:t>
            </a:r>
            <a:endParaRPr lang="en-IN" b="1">
              <a:solidFill>
                <a:srgbClr val="0F1F2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33A9FF-E602-4650-8DA7-8F689B5F44B5}"/>
              </a:ext>
            </a:extLst>
          </p:cNvPr>
          <p:cNvSpPr txBox="1"/>
          <p:nvPr/>
        </p:nvSpPr>
        <p:spPr>
          <a:xfrm>
            <a:off x="838200" y="459740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3324B"/>
                </a:solidFill>
              </a:rPr>
              <a:t>It closes the everyday version of the same root gap: no live crowd signal exists at ordinary walk-in tourist destinations — markets, viewpoints, temples — on a normal day.</a:t>
            </a:r>
            <a:endParaRPr lang="en-IN" sz="1600">
              <a:solidFill>
                <a:srgbClr val="13324B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AF1E5B-45A2-46DC-8D11-C38CFDF22FC9}"/>
              </a:ext>
            </a:extLst>
          </p:cNvPr>
          <p:cNvSpPr/>
          <p:nvPr/>
        </p:nvSpPr>
        <p:spPr>
          <a:xfrm>
            <a:off x="838200" y="5588000"/>
            <a:ext cx="10515600" cy="8636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0F6F63"/>
                </a:solidFill>
              </a:rPr>
              <a:t>Consequence: wasted trips to overloaded famous sites, while equally valid nearby alternatives get no footfall and no revenue.</a:t>
            </a:r>
            <a:endParaRPr lang="en-IN" sz="1600" b="1">
              <a:solidFill>
                <a:srgbClr val="0F6F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728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8177-1671-1F17-FA4D-E8F0CA888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000" b="1" dirty="0">
                <a:solidFill>
                  <a:srgbClr val="0F1F2E"/>
                </a:solidFill>
              </a:rPr>
              <a:t>Why Existing Solutions Don’t Close the Loop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0417F18-05B4-45C0-AB6A-17C5323EC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706600"/>
              </p:ext>
            </p:extLst>
          </p:nvPr>
        </p:nvGraphicFramePr>
        <p:xfrm>
          <a:off x="508000" y="1905000"/>
          <a:ext cx="11176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423320116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45833051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32540735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3685211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Existing Approach</a:t>
                      </a:r>
                    </a:p>
                  </a:txBody>
                  <a:tcPr anchor="ctr">
                    <a:solidFill>
                      <a:srgbClr val="0F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Live Sensing</a:t>
                      </a:r>
                    </a:p>
                  </a:txBody>
                  <a:tcPr anchor="ctr">
                    <a:solidFill>
                      <a:srgbClr val="0F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Live Rerouting</a:t>
                      </a:r>
                    </a:p>
                  </a:txBody>
                  <a:tcPr anchor="ctr">
                    <a:solidFill>
                      <a:srgbClr val="0F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Key Limitation</a:t>
                      </a:r>
                    </a:p>
                  </a:txBody>
                  <a:tcPr anchor="ctr">
                    <a:solidFill>
                      <a:srgbClr val="0F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40160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CrowdWise India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No — predicts from time/season/festival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~70% self-reported accuracy; no live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29840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/>
                        <a:t>Open-source tourism recommenders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No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No — static ranking only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Zero crowd-awareness; fully static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69413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SIH25002-style tourist safety (AI + geo-fencing + blockchain 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N/A — personal safety focus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Built for incident response, not congestion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46587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/>
                        <a:t>Char Dham Yatra system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Yes — GPS tracking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Quota-based only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Only works for scheduled, gated pilgrimage traffic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01095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427D9E-3F57-4D39-AC93-30F9F4396506}"/>
              </a:ext>
            </a:extLst>
          </p:cNvPr>
          <p:cNvSpPr/>
          <p:nvPr/>
        </p:nvSpPr>
        <p:spPr>
          <a:xfrm>
            <a:off x="508000" y="5918200"/>
            <a:ext cx="11176000" cy="635000"/>
          </a:xfrm>
          <a:prstGeom prst="roundRect">
            <a:avLst/>
          </a:prstGeom>
          <a:solidFill>
            <a:srgbClr val="0F1F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Nobody combines live measurement with live rerouting in one loop.</a:t>
            </a:r>
            <a:endParaRPr lang="en-IN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845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A6A2-E672-2D04-394C-6B2170D7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000" b="1" dirty="0">
                <a:solidFill>
                  <a:srgbClr val="0F1F2E"/>
                </a:solidFill>
              </a:rPr>
              <a:t>The Solution — Three Components, One Loop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5485A72-FCCB-40E1-850E-989B9CE1A4AB}"/>
              </a:ext>
            </a:extLst>
          </p:cNvPr>
          <p:cNvSpPr/>
          <p:nvPr/>
        </p:nvSpPr>
        <p:spPr>
          <a:xfrm>
            <a:off x="508000" y="1879600"/>
            <a:ext cx="3175000" cy="2794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A1E5C-D6BB-4C8A-BCCF-87DAF9D83879}"/>
              </a:ext>
            </a:extLst>
          </p:cNvPr>
          <p:cNvSpPr/>
          <p:nvPr/>
        </p:nvSpPr>
        <p:spPr>
          <a:xfrm>
            <a:off x="508000" y="1879600"/>
            <a:ext cx="3175000" cy="101600"/>
          </a:xfrm>
          <a:prstGeom prst="rect">
            <a:avLst/>
          </a:prstGeom>
          <a:solidFill>
            <a:srgbClr val="1B998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A788D-E4CB-4871-99B2-CFA728686E81}"/>
              </a:ext>
            </a:extLst>
          </p:cNvPr>
          <p:cNvSpPr txBox="1"/>
          <p:nvPr/>
        </p:nvSpPr>
        <p:spPr>
          <a:xfrm>
            <a:off x="711200" y="2133600"/>
            <a:ext cx="2768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F2E"/>
                </a:solidFill>
              </a:rPr>
              <a:t>Track B
Live Crowd Detection</a:t>
            </a:r>
            <a:endParaRPr lang="en-IN" sz="1600" b="1">
              <a:solidFill>
                <a:srgbClr val="0F1F2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5D621-DF9D-4FE3-94D6-B058B3143EDC}"/>
              </a:ext>
            </a:extLst>
          </p:cNvPr>
          <p:cNvSpPr txBox="1"/>
          <p:nvPr/>
        </p:nvSpPr>
        <p:spPr>
          <a:xfrm>
            <a:off x="711200" y="2819400"/>
            <a:ext cx="27686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13324B"/>
                </a:solidFill>
              </a:rPr>
              <a:t>Pretrained CV model counts people in a user-supplied photo at inference time.
Returns LOW / MEDIUM / HIGH / VERY_HIGH.</a:t>
            </a:r>
            <a:endParaRPr lang="en-IN" sz="1400" dirty="0">
              <a:solidFill>
                <a:srgbClr val="13324B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A6384E-6A3C-47FE-A86A-561EA6473A05}"/>
              </a:ext>
            </a:extLst>
          </p:cNvPr>
          <p:cNvSpPr/>
          <p:nvPr/>
        </p:nvSpPr>
        <p:spPr>
          <a:xfrm>
            <a:off x="4191000" y="1879600"/>
            <a:ext cx="3175000" cy="2794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5EA601-8EEE-46BE-A1D7-5673C59633A6}"/>
              </a:ext>
            </a:extLst>
          </p:cNvPr>
          <p:cNvSpPr/>
          <p:nvPr/>
        </p:nvSpPr>
        <p:spPr>
          <a:xfrm>
            <a:off x="4191000" y="1879600"/>
            <a:ext cx="3175000" cy="101600"/>
          </a:xfrm>
          <a:prstGeom prst="rect">
            <a:avLst/>
          </a:prstGeom>
          <a:solidFill>
            <a:srgbClr val="3B6E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11571F-E4A0-4E33-B5BC-94B8B2690422}"/>
              </a:ext>
            </a:extLst>
          </p:cNvPr>
          <p:cNvSpPr txBox="1"/>
          <p:nvPr/>
        </p:nvSpPr>
        <p:spPr>
          <a:xfrm>
            <a:off x="4394200" y="2133600"/>
            <a:ext cx="2768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600" b="1">
                <a:solidFill>
                  <a:srgbClr val="0F1F2E"/>
                </a:solidFill>
              </a:rPr>
              <a:t>Track A
Recommendation Engine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566C3-7F53-445F-840F-A40BA4A41241}"/>
              </a:ext>
            </a:extLst>
          </p:cNvPr>
          <p:cNvSpPr txBox="1"/>
          <p:nvPr/>
        </p:nvSpPr>
        <p:spPr>
          <a:xfrm>
            <a:off x="4394200" y="2819400"/>
            <a:ext cx="27686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When a destination is flagged crowded, finds similar, nearby alternatives (within 20km) that are currently uncrowded.
Ranks by embedding similarity + distance, filtering out anything also barriered.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E4951F-0454-4709-9BE8-DE0B3642C143}"/>
              </a:ext>
            </a:extLst>
          </p:cNvPr>
          <p:cNvSpPr/>
          <p:nvPr/>
        </p:nvSpPr>
        <p:spPr>
          <a:xfrm>
            <a:off x="7874000" y="1879600"/>
            <a:ext cx="3175000" cy="2794000"/>
          </a:xfrm>
          <a:prstGeom prst="roundRect">
            <a:avLst/>
          </a:prstGeom>
          <a:solidFill>
            <a:srgbClr val="EEF2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CB3049-DF20-4F8A-8221-544BBCDD1D8D}"/>
              </a:ext>
            </a:extLst>
          </p:cNvPr>
          <p:cNvSpPr/>
          <p:nvPr/>
        </p:nvSpPr>
        <p:spPr>
          <a:xfrm>
            <a:off x="7874000" y="1879600"/>
            <a:ext cx="3175000" cy="101600"/>
          </a:xfrm>
          <a:prstGeom prst="rect">
            <a:avLst/>
          </a:prstGeom>
          <a:solidFill>
            <a:srgbClr val="6C63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0162F9-69F5-4487-B13C-0A8D530992B9}"/>
              </a:ext>
            </a:extLst>
          </p:cNvPr>
          <p:cNvSpPr txBox="1"/>
          <p:nvPr/>
        </p:nvSpPr>
        <p:spPr>
          <a:xfrm>
            <a:off x="8077200" y="2133600"/>
            <a:ext cx="27686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600" b="1">
                <a:solidFill>
                  <a:srgbClr val="0F1F2E"/>
                </a:solidFill>
              </a:rPr>
              <a:t>NLP Explainability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44EE62-6CC5-4786-A1AC-05E2DCC6592E}"/>
              </a:ext>
            </a:extLst>
          </p:cNvPr>
          <p:cNvSpPr txBox="1"/>
          <p:nvPr/>
        </p:nvSpPr>
        <p:spPr>
          <a:xfrm>
            <a:off x="8077200" y="2819400"/>
            <a:ext cx="27686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Generates a plain-language reason for each recommendation:
“similar temple, 4km away, currently not crowded.”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77AFD73-DC23-4786-A1DA-97B52CFBEC6E}"/>
              </a:ext>
            </a:extLst>
          </p:cNvPr>
          <p:cNvSpPr/>
          <p:nvPr/>
        </p:nvSpPr>
        <p:spPr>
          <a:xfrm>
            <a:off x="3708400" y="3124200"/>
            <a:ext cx="457200" cy="304800"/>
          </a:xfrm>
          <a:prstGeom prst="rightArrow">
            <a:avLst/>
          </a:prstGeom>
          <a:solidFill>
            <a:srgbClr val="0F1F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DA9F565-9F8A-4EC2-AEBF-91B17C74AA31}"/>
              </a:ext>
            </a:extLst>
          </p:cNvPr>
          <p:cNvSpPr/>
          <p:nvPr/>
        </p:nvSpPr>
        <p:spPr>
          <a:xfrm>
            <a:off x="7391400" y="3124200"/>
            <a:ext cx="457200" cy="304800"/>
          </a:xfrm>
          <a:prstGeom prst="rightArrow">
            <a:avLst/>
          </a:prstGeom>
          <a:solidFill>
            <a:srgbClr val="0F1F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5F6E93-1EF5-4C13-B00F-6633D889BA70}"/>
              </a:ext>
            </a:extLst>
          </p:cNvPr>
          <p:cNvSpPr/>
          <p:nvPr/>
        </p:nvSpPr>
        <p:spPr>
          <a:xfrm>
            <a:off x="508000" y="5080000"/>
            <a:ext cx="11176000" cy="1143000"/>
          </a:xfrm>
          <a:prstGeom prst="roundRect">
            <a:avLst/>
          </a:prstGeom>
          <a:solidFill>
            <a:srgbClr val="0F1F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Core design principle: everything happens at inference time on live, user-supplied input — no historical forecasting, no unverifiable predictions.</a:t>
            </a:r>
            <a:endParaRPr lang="en-IN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5813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7E3A4-359C-86C0-BDA5-0A0B85073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000" b="1" dirty="0">
                <a:solidFill>
                  <a:srgbClr val="0F1F2E"/>
                </a:solidFill>
              </a:rPr>
              <a:t>What’s Novel — and What Isn’t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62B50EE-867E-4C30-844D-AEB9157A6CF2}"/>
              </a:ext>
            </a:extLst>
          </p:cNvPr>
          <p:cNvSpPr/>
          <p:nvPr/>
        </p:nvSpPr>
        <p:spPr>
          <a:xfrm>
            <a:off x="508000" y="2032000"/>
            <a:ext cx="5334000" cy="3810000"/>
          </a:xfrm>
          <a:prstGeom prst="roundRect">
            <a:avLst/>
          </a:prstGeom>
          <a:solidFill>
            <a:srgbClr val="F1F2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ABD65-D7E0-4534-89CA-4EDA8DE722B9}"/>
              </a:ext>
            </a:extLst>
          </p:cNvPr>
          <p:cNvSpPr txBox="1"/>
          <p:nvPr/>
        </p:nvSpPr>
        <p:spPr>
          <a:xfrm>
            <a:off x="812800" y="2336800"/>
            <a:ext cx="4724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000" b="1">
                <a:solidFill>
                  <a:srgbClr val="6B7680"/>
                </a:solidFill>
              </a:rPr>
              <a:t>NOT novel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2A263B-E732-4250-9ADE-8B5753623F60}"/>
              </a:ext>
            </a:extLst>
          </p:cNvPr>
          <p:cNvSpPr txBox="1"/>
          <p:nvPr/>
        </p:nvSpPr>
        <p:spPr>
          <a:xfrm>
            <a:off x="812800" y="2946400"/>
            <a:ext cx="4724400" cy="254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3A4550"/>
                </a:solidFill>
              </a:rPr>
              <a:t>The CV model itself — off-the-shelf.
The embedding / ranking technique — a standard pattern.
The explainability layer — template-based, by design.</a:t>
            </a:r>
            <a:endParaRPr lang="en-IN" sz="1600" dirty="0">
              <a:solidFill>
                <a:srgbClr val="3A455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901DCF-7C8C-401B-83B3-C87303B1FC55}"/>
              </a:ext>
            </a:extLst>
          </p:cNvPr>
          <p:cNvSpPr/>
          <p:nvPr/>
        </p:nvSpPr>
        <p:spPr>
          <a:xfrm>
            <a:off x="6350000" y="2032000"/>
            <a:ext cx="5334000" cy="3810000"/>
          </a:xfrm>
          <a:prstGeom prst="roundRect">
            <a:avLst/>
          </a:prstGeom>
          <a:solidFill>
            <a:srgbClr val="0F1F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EEEE2-C757-4F98-99A2-C5A2F47C73EA}"/>
              </a:ext>
            </a:extLst>
          </p:cNvPr>
          <p:cNvSpPr txBox="1"/>
          <p:nvPr/>
        </p:nvSpPr>
        <p:spPr>
          <a:xfrm>
            <a:off x="6654800" y="2336800"/>
            <a:ext cx="47244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000" b="1">
                <a:solidFill>
                  <a:srgbClr val="1B998B"/>
                </a:solidFill>
              </a:rPr>
              <a:t>Genuinely novel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B8568E-A723-4472-8BF7-9BB294910665}"/>
              </a:ext>
            </a:extLst>
          </p:cNvPr>
          <p:cNvSpPr txBox="1"/>
          <p:nvPr/>
        </p:nvSpPr>
        <p:spPr>
          <a:xfrm>
            <a:off x="6654800" y="2946400"/>
            <a:ext cx="4724400" cy="215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FFFFFF"/>
                </a:solidFill>
              </a:rPr>
              <a:t>The closed loop: live measurement automatically triggers live rerouting with a reasoned explanation.
No human in the loop. No historical data dependency.</a:t>
            </a:r>
            <a:endParaRPr lang="en-IN" sz="160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4DED2-C2C9-4471-ACF6-880FFDFFA557}"/>
              </a:ext>
            </a:extLst>
          </p:cNvPr>
          <p:cNvSpPr txBox="1"/>
          <p:nvPr/>
        </p:nvSpPr>
        <p:spPr>
          <a:xfrm>
            <a:off x="6654800" y="5207000"/>
            <a:ext cx="47244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 i="1">
                <a:solidFill>
                  <a:srgbClr val="F2A93B"/>
                </a:solidFill>
              </a:rPr>
              <a:t>No competitor found does more than one piece of this chain.</a:t>
            </a:r>
            <a:endParaRPr lang="en-IN" sz="1500" b="1" i="1">
              <a:solidFill>
                <a:srgbClr val="F2A9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119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2E50-6E35-F206-7088-3BCA75E2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000" b="1" dirty="0">
                <a:solidFill>
                  <a:srgbClr val="0F1F2E"/>
                </a:solidFill>
              </a:rPr>
              <a:t>MVP Scope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DEAD9B3-ACBC-4A51-9751-FE99ACD52FF9}"/>
              </a:ext>
            </a:extLst>
          </p:cNvPr>
          <p:cNvSpPr/>
          <p:nvPr/>
        </p:nvSpPr>
        <p:spPr>
          <a:xfrm>
            <a:off x="508000" y="1905000"/>
            <a:ext cx="2794000" cy="44450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0DCD2-16AA-4FA8-8026-9599A0820C39}"/>
              </a:ext>
            </a:extLst>
          </p:cNvPr>
          <p:cNvSpPr/>
          <p:nvPr/>
        </p:nvSpPr>
        <p:spPr>
          <a:xfrm>
            <a:off x="508000" y="1905000"/>
            <a:ext cx="2794000" cy="76200"/>
          </a:xfrm>
          <a:prstGeom prst="rect">
            <a:avLst/>
          </a:prstGeom>
          <a:solidFill>
            <a:srgbClr val="2F85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A2AD14-0466-486B-A001-34DBF938C836}"/>
              </a:ext>
            </a:extLst>
          </p:cNvPr>
          <p:cNvSpPr txBox="1"/>
          <p:nvPr/>
        </p:nvSpPr>
        <p:spPr>
          <a:xfrm>
            <a:off x="711200" y="2159000"/>
            <a:ext cx="2387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700" b="1">
                <a:solidFill>
                  <a:srgbClr val="2F855A"/>
                </a:solidFill>
              </a:rPr>
              <a:t>Built &amp; Working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3BAE79-D4C3-4ACA-9543-E07B20F2F8F8}"/>
              </a:ext>
            </a:extLst>
          </p:cNvPr>
          <p:cNvSpPr/>
          <p:nvPr/>
        </p:nvSpPr>
        <p:spPr>
          <a:xfrm>
            <a:off x="3556000" y="1905000"/>
            <a:ext cx="4318000" cy="44450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DD510-E3F7-419C-B202-16BD9EF89ED5}"/>
              </a:ext>
            </a:extLst>
          </p:cNvPr>
          <p:cNvSpPr/>
          <p:nvPr/>
        </p:nvSpPr>
        <p:spPr>
          <a:xfrm>
            <a:off x="3556000" y="1905000"/>
            <a:ext cx="4318000" cy="76200"/>
          </a:xfrm>
          <a:prstGeom prst="rect">
            <a:avLst/>
          </a:prstGeom>
          <a:solidFill>
            <a:srgbClr val="3B6E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CFC5A9-7715-4BBA-AC3E-996B4FC62356}"/>
              </a:ext>
            </a:extLst>
          </p:cNvPr>
          <p:cNvSpPr txBox="1"/>
          <p:nvPr/>
        </p:nvSpPr>
        <p:spPr>
          <a:xfrm>
            <a:off x="3759200" y="2159000"/>
            <a:ext cx="3911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700" b="1">
                <a:solidFill>
                  <a:srgbClr val="3B6EF2"/>
                </a:solidFill>
              </a:rPr>
              <a:t>MVP Build 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A7108-03D1-448B-8F37-6E56A7B3ADE6}"/>
              </a:ext>
            </a:extLst>
          </p:cNvPr>
          <p:cNvSpPr txBox="1"/>
          <p:nvPr/>
        </p:nvSpPr>
        <p:spPr>
          <a:xfrm>
            <a:off x="3759200" y="2641600"/>
            <a:ext cx="3911600" cy="3505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400">
                <a:solidFill>
                  <a:srgbClr val="13324B"/>
                </a:solidFill>
              </a:rPr>
              <a:t>–  Add destination_id to the detection request
–  Fix error fallback: LOW → unknown
–  15–25 hand-curated destinations, one-time embedding generation
–  In-memory TTL-based Barrier State Store
–  Cosine similarity + haversine distance ranking, with barrier-filtering
–  Template-based explanations
–  Thin web UI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B052D7-38E9-4988-9858-8388D0CD59E7}"/>
              </a:ext>
            </a:extLst>
          </p:cNvPr>
          <p:cNvSpPr/>
          <p:nvPr/>
        </p:nvSpPr>
        <p:spPr>
          <a:xfrm>
            <a:off x="8128000" y="1905000"/>
            <a:ext cx="3556000" cy="44450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7E8F5A-6B0B-4E41-B535-ADD6F141C7B4}"/>
              </a:ext>
            </a:extLst>
          </p:cNvPr>
          <p:cNvSpPr/>
          <p:nvPr/>
        </p:nvSpPr>
        <p:spPr>
          <a:xfrm>
            <a:off x="8128000" y="1905000"/>
            <a:ext cx="3556000" cy="76200"/>
          </a:xfrm>
          <a:prstGeom prst="rect">
            <a:avLst/>
          </a:prstGeom>
          <a:solidFill>
            <a:srgbClr val="8A6D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6C153F-9B2C-4F85-BE1E-7012CB409041}"/>
              </a:ext>
            </a:extLst>
          </p:cNvPr>
          <p:cNvSpPr txBox="1"/>
          <p:nvPr/>
        </p:nvSpPr>
        <p:spPr>
          <a:xfrm>
            <a:off x="8331200" y="2159000"/>
            <a:ext cx="31496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700" b="1">
                <a:solidFill>
                  <a:srgbClr val="8A6D1E"/>
                </a:solidFill>
              </a:rPr>
              <a:t>Explicitly Deferred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DD193A-1968-4E30-96BA-DF6D697BC10D}"/>
              </a:ext>
            </a:extLst>
          </p:cNvPr>
          <p:cNvSpPr txBox="1"/>
          <p:nvPr/>
        </p:nvSpPr>
        <p:spPr>
          <a:xfrm>
            <a:off x="8331200" y="2641600"/>
            <a:ext cx="3149600" cy="3505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400">
                <a:solidFill>
                  <a:srgbClr val="13324B"/>
                </a:solidFill>
              </a:rPr>
              <a:t>–  Voice / multilingual interface
–  Live OSM / data.gov.in ingestion pipeline
–  Category-tuned thresholds
–  Production database 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0DD146-69F4-4ABD-9E35-24407D35FE45}"/>
              </a:ext>
            </a:extLst>
          </p:cNvPr>
          <p:cNvSpPr txBox="1"/>
          <p:nvPr/>
        </p:nvSpPr>
        <p:spPr>
          <a:xfrm>
            <a:off x="711200" y="2641600"/>
            <a:ext cx="23876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5C3E"/>
                </a:solidFill>
              </a:rPr>
              <a:t>✓  FastAPI service scaffolded and deployed
✓  YOLOv8 crowd-counting inference verified on live images
✓  Detection endpoint returns real-time LOW/MEDIUM/HIGH/VERY_HIGH counts
✓  This is the one workstream already demoable end-to-end</a:t>
            </a:r>
            <a:endParaRPr lang="en-IN" sz="1400">
              <a:solidFill>
                <a:srgbClr val="1F5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279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E752-95AD-D92A-7742-046E3114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0F1F2E"/>
                </a:solidFill>
              </a:rPr>
              <a:t>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046E4-B35D-8159-7EAB-EF52C429DD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1900" i="1" dirty="0">
                <a:solidFill>
                  <a:srgbClr val="1B998B"/>
                </a:solidFill>
              </a:rPr>
              <a:t>Architecture, model choices, build sequencing, team ownership, demo plan, and risk management.</a:t>
            </a:r>
          </a:p>
        </p:txBody>
      </p:sp>
    </p:spTree>
    <p:extLst>
      <p:ext uri="{BB962C8B-B14F-4D97-AF65-F5344CB8AC3E}">
        <p14:creationId xmlns:p14="http://schemas.microsoft.com/office/powerpoint/2010/main" val="306242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79F1-F461-668F-0915-764BDDF3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>
                <a:solidFill>
                  <a:srgbClr val="0F1F2E"/>
                </a:solidFill>
              </a:rPr>
              <a:t>Architecture &amp; Data Flow</a:t>
            </a:r>
          </a:p>
        </p:txBody>
      </p:sp>
      <p:sp>
        <p:nvSpPr>
          <p:cNvPr id="200" name="Label200"/>
          <p:cNvSpPr/>
          <p:nvPr/>
        </p:nvSpPr>
        <p:spPr>
          <a:xfrm>
            <a:off x="889000" y="18161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i="1" dirty="0">
                <a:solidFill>
                  <a:srgbClr val="6C63A6"/>
                </a:solidFill>
              </a:rPr>
              <a:t>OFFLINE — BATCH PIPELINE (runs once)</a:t>
            </a:r>
          </a:p>
        </p:txBody>
      </p:sp>
      <p:sp>
        <p:nvSpPr>
          <p:cNvPr id="201" name="Box201"/>
          <p:cNvSpPr/>
          <p:nvPr/>
        </p:nvSpPr>
        <p:spPr>
          <a:xfrm>
            <a:off x="889000" y="2133600"/>
            <a:ext cx="2413000" cy="863600"/>
          </a:xfrm>
          <a:prstGeom prst="roundRect">
            <a:avLst>
              <a:gd name="adj" fmla="val 8000"/>
            </a:avLst>
          </a:prstGeom>
          <a:solidFill>
            <a:srgbClr val="EEEAF7"/>
          </a:solidFill>
          <a:ln w="12700">
            <a:solidFill>
              <a:srgbClr val="6C63A6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A2E5C"/>
                </a:solidFill>
              </a:rPr>
              <a:t>OSM / data.gov.in / Wikidata place metadata</a:t>
            </a:r>
          </a:p>
        </p:txBody>
      </p:sp>
      <p:sp>
        <p:nvSpPr>
          <p:cNvPr id="202" name="Arrow202"/>
          <p:cNvSpPr/>
          <p:nvPr/>
        </p:nvSpPr>
        <p:spPr>
          <a:xfrm>
            <a:off x="3302000" y="2413000"/>
            <a:ext cx="2540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3" name="Box203"/>
          <p:cNvSpPr/>
          <p:nvPr/>
        </p:nvSpPr>
        <p:spPr>
          <a:xfrm>
            <a:off x="3556000" y="2133600"/>
            <a:ext cx="2413000" cy="863600"/>
          </a:xfrm>
          <a:prstGeom prst="roundRect">
            <a:avLst>
              <a:gd name="adj" fmla="val 8000"/>
            </a:avLst>
          </a:prstGeom>
          <a:solidFill>
            <a:srgbClr val="EEEAF7"/>
          </a:solidFill>
          <a:ln w="12700">
            <a:solidFill>
              <a:srgbClr val="6C63A6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A2E5C"/>
                </a:solidFill>
              </a:rPr>
              <a:t>Cleaning &amp; normalization</a:t>
            </a:r>
          </a:p>
        </p:txBody>
      </p:sp>
      <p:sp>
        <p:nvSpPr>
          <p:cNvPr id="204" name="Arrow204"/>
          <p:cNvSpPr/>
          <p:nvPr/>
        </p:nvSpPr>
        <p:spPr>
          <a:xfrm>
            <a:off x="5969000" y="2413000"/>
            <a:ext cx="2540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5" name="Box205"/>
          <p:cNvSpPr/>
          <p:nvPr/>
        </p:nvSpPr>
        <p:spPr>
          <a:xfrm>
            <a:off x="6223000" y="2133600"/>
            <a:ext cx="2413000" cy="863600"/>
          </a:xfrm>
          <a:prstGeom prst="roundRect">
            <a:avLst>
              <a:gd name="adj" fmla="val 8000"/>
            </a:avLst>
          </a:prstGeom>
          <a:solidFill>
            <a:srgbClr val="EEEAF7"/>
          </a:solidFill>
          <a:ln w="12700">
            <a:solidFill>
              <a:srgbClr val="6C63A6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3A2E5C"/>
                </a:solidFill>
              </a:rPr>
              <a:t>Batch embedding generation</a:t>
            </a:r>
          </a:p>
        </p:txBody>
      </p:sp>
      <p:sp>
        <p:nvSpPr>
          <p:cNvPr id="206" name="Arrow206"/>
          <p:cNvSpPr/>
          <p:nvPr/>
        </p:nvSpPr>
        <p:spPr>
          <a:xfrm>
            <a:off x="8636000" y="2413000"/>
            <a:ext cx="2540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Box207"/>
          <p:cNvSpPr/>
          <p:nvPr/>
        </p:nvSpPr>
        <p:spPr>
          <a:xfrm>
            <a:off x="8890000" y="2133600"/>
            <a:ext cx="2413000" cy="863600"/>
          </a:xfrm>
          <a:prstGeom prst="roundRect">
            <a:avLst>
              <a:gd name="adj" fmla="val 8000"/>
            </a:avLst>
          </a:prstGeom>
          <a:solidFill>
            <a:srgbClr val="544A8F"/>
          </a:solidFill>
          <a:ln w="12700">
            <a:solidFill>
              <a:srgbClr val="544A8F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Vector index (stored)</a:t>
            </a:r>
          </a:p>
        </p:txBody>
      </p:sp>
      <p:sp>
        <p:nvSpPr>
          <p:cNvPr id="208" name="DownArrow208"/>
          <p:cNvSpPr/>
          <p:nvPr/>
        </p:nvSpPr>
        <p:spPr>
          <a:xfrm>
            <a:off x="5905500" y="3073400"/>
            <a:ext cx="304800" cy="304800"/>
          </a:xfrm>
          <a:prstGeom prst="down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Label209"/>
          <p:cNvSpPr/>
          <p:nvPr/>
        </p:nvSpPr>
        <p:spPr>
          <a:xfrm>
            <a:off x="571500" y="3454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i="1" dirty="0">
                <a:solidFill>
                  <a:srgbClr val="0F5C52"/>
                </a:solidFill>
              </a:rPr>
              <a:t>RUNTIME — EVERY REQUEST</a:t>
            </a:r>
          </a:p>
        </p:txBody>
      </p:sp>
      <p:sp>
        <p:nvSpPr>
          <p:cNvPr id="210" name="Box210"/>
          <p:cNvSpPr/>
          <p:nvPr/>
        </p:nvSpPr>
        <p:spPr>
          <a:xfrm>
            <a:off x="571500" y="3759200"/>
            <a:ext cx="1651000" cy="990600"/>
          </a:xfrm>
          <a:prstGeom prst="roundRect">
            <a:avLst>
              <a:gd name="adj" fmla="val 8000"/>
            </a:avLst>
          </a:prstGeom>
          <a:solidFill>
            <a:srgbClr val="E8F5F3"/>
          </a:solidFill>
          <a:ln w="12700">
            <a:solidFill>
              <a:srgbClr val="1B998B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F3D36"/>
                </a:solidFill>
              </a:rPr>
              <a:t>User photo</a:t>
            </a:r>
          </a:p>
        </p:txBody>
      </p:sp>
      <p:sp>
        <p:nvSpPr>
          <p:cNvPr id="211" name="Arrow211"/>
          <p:cNvSpPr/>
          <p:nvPr/>
        </p:nvSpPr>
        <p:spPr>
          <a:xfrm>
            <a:off x="2222500" y="4089400"/>
            <a:ext cx="2286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2" name="Box212"/>
          <p:cNvSpPr/>
          <p:nvPr/>
        </p:nvSpPr>
        <p:spPr>
          <a:xfrm>
            <a:off x="2451100" y="3759200"/>
            <a:ext cx="1651000" cy="990600"/>
          </a:xfrm>
          <a:prstGeom prst="roundRect">
            <a:avLst>
              <a:gd name="adj" fmla="val 8000"/>
            </a:avLst>
          </a:prstGeom>
          <a:solidFill>
            <a:srgbClr val="0F5C52"/>
          </a:solidFill>
          <a:ln w="12700">
            <a:solidFill>
              <a:srgbClr val="0F5C5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Track B: CV inference</a:t>
            </a:r>
          </a:p>
        </p:txBody>
      </p:sp>
      <p:sp>
        <p:nvSpPr>
          <p:cNvPr id="213" name="Arrow213"/>
          <p:cNvSpPr/>
          <p:nvPr/>
        </p:nvSpPr>
        <p:spPr>
          <a:xfrm>
            <a:off x="4102100" y="4089400"/>
            <a:ext cx="2286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4" name="Box214"/>
          <p:cNvSpPr/>
          <p:nvPr/>
        </p:nvSpPr>
        <p:spPr>
          <a:xfrm>
            <a:off x="4330700" y="3759200"/>
            <a:ext cx="1651000" cy="990600"/>
          </a:xfrm>
          <a:prstGeom prst="roundRect">
            <a:avLst>
              <a:gd name="adj" fmla="val 8000"/>
            </a:avLst>
          </a:prstGeom>
          <a:solidFill>
            <a:srgbClr val="E8F5F3"/>
          </a:solidFill>
          <a:ln w="12700">
            <a:solidFill>
              <a:srgbClr val="1B998B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F3D36"/>
                </a:solidFill>
              </a:rPr>
              <a:t>Barrier State Store (TTL)</a:t>
            </a:r>
          </a:p>
        </p:txBody>
      </p:sp>
      <p:sp>
        <p:nvSpPr>
          <p:cNvPr id="215" name="Arrow215"/>
          <p:cNvSpPr/>
          <p:nvPr/>
        </p:nvSpPr>
        <p:spPr>
          <a:xfrm>
            <a:off x="5981700" y="4089400"/>
            <a:ext cx="2286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Box216"/>
          <p:cNvSpPr/>
          <p:nvPr/>
        </p:nvSpPr>
        <p:spPr>
          <a:xfrm>
            <a:off x="6210300" y="3759200"/>
            <a:ext cx="1651000" cy="990600"/>
          </a:xfrm>
          <a:prstGeom prst="roundRect">
            <a:avLst>
              <a:gd name="adj" fmla="val 8000"/>
            </a:avLst>
          </a:prstGeom>
          <a:solidFill>
            <a:srgbClr val="0F5C52"/>
          </a:solidFill>
          <a:ln w="12700">
            <a:solidFill>
              <a:srgbClr val="0F5C52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Track A: ranking</a:t>
            </a:r>
          </a:p>
        </p:txBody>
      </p:sp>
      <p:sp>
        <p:nvSpPr>
          <p:cNvPr id="217" name="Arrow217"/>
          <p:cNvSpPr/>
          <p:nvPr/>
        </p:nvSpPr>
        <p:spPr>
          <a:xfrm>
            <a:off x="7861300" y="4089400"/>
            <a:ext cx="2286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Box218"/>
          <p:cNvSpPr/>
          <p:nvPr/>
        </p:nvSpPr>
        <p:spPr>
          <a:xfrm>
            <a:off x="8089900" y="3759200"/>
            <a:ext cx="1651000" cy="990600"/>
          </a:xfrm>
          <a:prstGeom prst="roundRect">
            <a:avLst>
              <a:gd name="adj" fmla="val 8000"/>
            </a:avLst>
          </a:prstGeom>
          <a:solidFill>
            <a:srgbClr val="E8F5F3"/>
          </a:solidFill>
          <a:ln w="12700">
            <a:solidFill>
              <a:srgbClr val="1B998B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F3D36"/>
                </a:solidFill>
              </a:rPr>
              <a:t>NLP explanation</a:t>
            </a:r>
          </a:p>
        </p:txBody>
      </p:sp>
      <p:sp>
        <p:nvSpPr>
          <p:cNvPr id="219" name="Arrow219"/>
          <p:cNvSpPr/>
          <p:nvPr/>
        </p:nvSpPr>
        <p:spPr>
          <a:xfrm>
            <a:off x="9740900" y="4089400"/>
            <a:ext cx="228600" cy="304800"/>
          </a:xfrm>
          <a:prstGeom prst="rightArrow">
            <a:avLst/>
          </a:prstGeom>
          <a:solidFill>
            <a:srgbClr val="9AA5A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0" name="Box220"/>
          <p:cNvSpPr/>
          <p:nvPr/>
        </p:nvSpPr>
        <p:spPr>
          <a:xfrm>
            <a:off x="9969500" y="3759200"/>
            <a:ext cx="1651000" cy="990600"/>
          </a:xfrm>
          <a:prstGeom prst="roundRect">
            <a:avLst>
              <a:gd name="adj" fmla="val 8000"/>
            </a:avLst>
          </a:prstGeom>
          <a:solidFill>
            <a:srgbClr val="E8F5F3"/>
          </a:solidFill>
          <a:ln w="12700">
            <a:solidFill>
              <a:srgbClr val="1B998B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F3D36"/>
                </a:solidFill>
              </a:rPr>
              <a:t>User sees reroute</a:t>
            </a:r>
          </a:p>
        </p:txBody>
      </p:sp>
      <p:cxnSp>
        <p:nvCxnSpPr>
          <p:cNvPr id="221" name="Connector221"/>
          <p:cNvCxnSpPr/>
          <p:nvPr/>
        </p:nvCxnSpPr>
        <p:spPr>
          <a:xfrm flipH="1">
            <a:off x="7035800" y="2997200"/>
            <a:ext cx="3060700" cy="762000"/>
          </a:xfrm>
          <a:prstGeom prst="straightConnector1">
            <a:avLst/>
          </a:prstGeom>
          <a:ln w="15875">
            <a:solidFill>
              <a:srgbClr val="6C63A6"/>
            </a:solidFill>
            <a:prstDash val="dash"/>
            <a:tailEnd type="triangle" w="med" len="med"/>
          </a:ln>
        </p:spPr>
      </p:cxnSp>
      <p:sp>
        <p:nvSpPr>
          <p:cNvPr id="222" name="Label222"/>
          <p:cNvSpPr/>
          <p:nvPr/>
        </p:nvSpPr>
        <p:spPr>
          <a:xfrm>
            <a:off x="571500" y="4953000"/>
            <a:ext cx="11049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400" b="1" i="1" dirty="0">
                <a:solidFill>
                  <a:srgbClr val="3A4550"/>
                </a:solidFill>
              </a:rPr>
              <a:t>Track A ranking cross-references both the vector index (offline) and the Barrier State Store (live) before returning results.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0FC324-9881-4638-9FBC-C2456CCDC671}"/>
              </a:ext>
            </a:extLst>
          </p:cNvPr>
          <p:cNvSpPr/>
          <p:nvPr/>
        </p:nvSpPr>
        <p:spPr>
          <a:xfrm>
            <a:off x="571500" y="5689600"/>
            <a:ext cx="228600" cy="228600"/>
          </a:xfrm>
          <a:prstGeom prst="roundRect">
            <a:avLst/>
          </a:prstGeom>
          <a:solidFill>
            <a:srgbClr val="6C63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F401F7-2CC1-4326-B111-10A2A0A41721}"/>
              </a:ext>
            </a:extLst>
          </p:cNvPr>
          <p:cNvSpPr txBox="1"/>
          <p:nvPr/>
        </p:nvSpPr>
        <p:spPr>
          <a:xfrm>
            <a:off x="876300" y="56515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400">
                <a:solidFill>
                  <a:srgbClr val="3A4550"/>
                </a:solidFill>
              </a:rPr>
              <a:t>Offline batch step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DF4B3A-A084-4E2B-81BD-9B5E805B2122}"/>
              </a:ext>
            </a:extLst>
          </p:cNvPr>
          <p:cNvSpPr/>
          <p:nvPr/>
        </p:nvSpPr>
        <p:spPr>
          <a:xfrm>
            <a:off x="3810000" y="5689600"/>
            <a:ext cx="228600" cy="228600"/>
          </a:xfrm>
          <a:prstGeom prst="roundRect">
            <a:avLst/>
          </a:prstGeom>
          <a:solidFill>
            <a:srgbClr val="1B998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5A53CE-72A0-4FF3-9405-0D9399DD535E}"/>
              </a:ext>
            </a:extLst>
          </p:cNvPr>
          <p:cNvSpPr txBox="1"/>
          <p:nvPr/>
        </p:nvSpPr>
        <p:spPr>
          <a:xfrm>
            <a:off x="4114800" y="56515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400">
                <a:solidFill>
                  <a:srgbClr val="3A4550"/>
                </a:solidFill>
              </a:rPr>
              <a:t>Runtime step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10B667-BC30-4512-9762-ABF96687724C}"/>
              </a:ext>
            </a:extLst>
          </p:cNvPr>
          <p:cNvSpPr/>
          <p:nvPr/>
        </p:nvSpPr>
        <p:spPr>
          <a:xfrm>
            <a:off x="7048500" y="5689600"/>
            <a:ext cx="228600" cy="228600"/>
          </a:xfrm>
          <a:prstGeom prst="roundRect">
            <a:avLst/>
          </a:prstGeom>
          <a:solidFill>
            <a:srgbClr val="0F5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6D25F6-1A66-43BA-8650-2FB588803F1A}"/>
              </a:ext>
            </a:extLst>
          </p:cNvPr>
          <p:cNvSpPr txBox="1"/>
          <p:nvPr/>
        </p:nvSpPr>
        <p:spPr>
          <a:xfrm>
            <a:off x="7353300" y="56515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A4550"/>
                </a:solidFill>
              </a:rPr>
              <a:t>Track B / Track A core</a:t>
            </a:r>
            <a:endParaRPr lang="en-IN" sz="1400">
              <a:solidFill>
                <a:srgbClr val="3A45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CDF91-8D63-4B9B-98DF-5BE087A8B16C}"/>
              </a:ext>
            </a:extLst>
          </p:cNvPr>
          <p:cNvSpPr txBox="1"/>
          <p:nvPr/>
        </p:nvSpPr>
        <p:spPr>
          <a:xfrm>
            <a:off x="571500" y="60706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400" i="1">
                <a:solidFill>
                  <a:srgbClr val="6C63A6"/>
                </a:solidFill>
              </a:rPr>
              <a:t>- - -  cross-reference at ranking time</a:t>
            </a:r>
          </a:p>
        </p:txBody>
      </p:sp>
    </p:spTree>
    <p:extLst>
      <p:ext uri="{BB962C8B-B14F-4D97-AF65-F5344CB8AC3E}">
        <p14:creationId xmlns:p14="http://schemas.microsoft.com/office/powerpoint/2010/main" val="77975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AE4A-16EF-7A85-0CEE-7C4B2BAD8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>
                <a:solidFill>
                  <a:srgbClr val="0F1F2E"/>
                </a:solidFill>
              </a:rPr>
              <a:t>Model Selection &amp; Why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BFC503-D4E4-4F86-B390-7517D2791CFF}"/>
              </a:ext>
            </a:extLst>
          </p:cNvPr>
          <p:cNvSpPr/>
          <p:nvPr/>
        </p:nvSpPr>
        <p:spPr>
          <a:xfrm>
            <a:off x="571500" y="1905000"/>
            <a:ext cx="5334000" cy="29210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464374-B710-4073-B87A-F2E5BC175AB3}"/>
              </a:ext>
            </a:extLst>
          </p:cNvPr>
          <p:cNvSpPr/>
          <p:nvPr/>
        </p:nvSpPr>
        <p:spPr>
          <a:xfrm>
            <a:off x="571500" y="1905000"/>
            <a:ext cx="5334000" cy="101600"/>
          </a:xfrm>
          <a:prstGeom prst="rect">
            <a:avLst/>
          </a:prstGeom>
          <a:solidFill>
            <a:srgbClr val="9AA5A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9AA5A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62B26-3C96-41BE-8CF1-3AD571F03E4E}"/>
              </a:ext>
            </a:extLst>
          </p:cNvPr>
          <p:cNvSpPr txBox="1"/>
          <p:nvPr/>
        </p:nvSpPr>
        <p:spPr>
          <a:xfrm>
            <a:off x="889000" y="21336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6B7684"/>
                </a:solidFill>
              </a:rPr>
              <a:t>BASE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D1519C-DE7D-4B99-8961-F4DF10F37D17}"/>
              </a:ext>
            </a:extLst>
          </p:cNvPr>
          <p:cNvSpPr txBox="1"/>
          <p:nvPr/>
        </p:nvSpPr>
        <p:spPr>
          <a:xfrm>
            <a:off x="889000" y="2463800"/>
            <a:ext cx="4699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600" b="1">
                <a:solidFill>
                  <a:srgbClr val="0F1F2E"/>
                </a:solidFill>
              </a:rPr>
              <a:t>YOLOv8n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95FF3-09D8-4BBC-AC10-E3884E428983}"/>
              </a:ext>
            </a:extLst>
          </p:cNvPr>
          <p:cNvSpPr txBox="1"/>
          <p:nvPr/>
        </p:nvSpPr>
        <p:spPr>
          <a:xfrm>
            <a:off x="889000" y="3048000"/>
            <a:ext cx="4699000" cy="147732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3A4550"/>
                </a:solidFill>
              </a:rPr>
              <a:t>Off-the-shelf, pretrained on COCO  general object detection.
Known limitation: trained on general scenes, not crowd-dense imagery. Struggles with occlusion in tightly packed groups.</a:t>
            </a:r>
            <a:endParaRPr lang="en-IN" sz="1500" dirty="0">
              <a:solidFill>
                <a:srgbClr val="3A455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6F9CC5-ACC8-48E8-BDD7-D785325373A6}"/>
              </a:ext>
            </a:extLst>
          </p:cNvPr>
          <p:cNvSpPr/>
          <p:nvPr/>
        </p:nvSpPr>
        <p:spPr>
          <a:xfrm>
            <a:off x="6286500" y="1905000"/>
            <a:ext cx="5334000" cy="2921000"/>
          </a:xfrm>
          <a:prstGeom prst="roundRect">
            <a:avLst/>
          </a:prstGeom>
          <a:solidFill>
            <a:srgbClr val="0F5C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94FDF-C52B-41DB-A7F7-88E09C2207D6}"/>
              </a:ext>
            </a:extLst>
          </p:cNvPr>
          <p:cNvSpPr txBox="1"/>
          <p:nvPr/>
        </p:nvSpPr>
        <p:spPr>
          <a:xfrm>
            <a:off x="6604000" y="21336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BFE8E1"/>
                </a:solidFill>
              </a:rPr>
              <a:t>UPGRADE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B6F2C6-A679-4022-84D2-8677C097175A}"/>
              </a:ext>
            </a:extLst>
          </p:cNvPr>
          <p:cNvSpPr txBox="1"/>
          <p:nvPr/>
        </p:nvSpPr>
        <p:spPr>
          <a:xfrm>
            <a:off x="6604000" y="2463800"/>
            <a:ext cx="4699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200" b="1">
                <a:solidFill>
                  <a:srgbClr val="FFFFFF"/>
                </a:solidFill>
              </a:rPr>
              <a:t>CrowdHuman-fine-tuned YOLOv8n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10844-2CFE-4194-BA35-551F799A9A0A}"/>
              </a:ext>
            </a:extLst>
          </p:cNvPr>
          <p:cNvSpPr txBox="1"/>
          <p:nvPr/>
        </p:nvSpPr>
        <p:spPr>
          <a:xfrm>
            <a:off x="6604000" y="3327400"/>
            <a:ext cx="4699000" cy="124649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>
                <a:solidFill>
                  <a:srgbClr val="EAF6F4"/>
                </a:solidFill>
              </a:rPr>
              <a:t>Public, pretrained weights  zero additional training cost.
Meaningfully better accuracy on dense-crowd scenes than the base model.</a:t>
            </a:r>
            <a:endParaRPr lang="en-IN" sz="1500" dirty="0">
              <a:solidFill>
                <a:srgbClr val="EAF6F4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652850-EA9C-48CB-BC5C-A27510EBBACD}"/>
              </a:ext>
            </a:extLst>
          </p:cNvPr>
          <p:cNvSpPr/>
          <p:nvPr/>
        </p:nvSpPr>
        <p:spPr>
          <a:xfrm>
            <a:off x="571500" y="5143500"/>
            <a:ext cx="11049000" cy="1143000"/>
          </a:xfrm>
          <a:prstGeom prst="roundRect">
            <a:avLst/>
          </a:prstGeom>
          <a:solidFill>
            <a:srgbClr val="0F1F2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BEFFC4-FE99-4372-B09D-0E1FA033039C}"/>
              </a:ext>
            </a:extLst>
          </p:cNvPr>
          <p:cNvSpPr txBox="1"/>
          <p:nvPr/>
        </p:nvSpPr>
        <p:spPr>
          <a:xfrm>
            <a:off x="889000" y="5334000"/>
            <a:ext cx="10414000" cy="787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>
                <a:solidFill>
                  <a:srgbClr val="FFFFFF"/>
                </a:solidFill>
              </a:rPr>
              <a:t>Not an unproven approach: recently published work (Drishti AI-Event Guardian, 2026) validates fine-tuning YOLOv8 on CrowdHuman plus real Indian mass-gathering footage — including Kumbh Mela archival data — for this exact use case.</a:t>
            </a:r>
          </a:p>
        </p:txBody>
      </p:sp>
    </p:spTree>
    <p:extLst>
      <p:ext uri="{BB962C8B-B14F-4D97-AF65-F5344CB8AC3E}">
        <p14:creationId xmlns:p14="http://schemas.microsoft.com/office/powerpoint/2010/main" val="11911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0386-06D5-2EB2-1AE9-8E1E84931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800" b="1" dirty="0">
                <a:solidFill>
                  <a:srgbClr val="0F1F2E"/>
                </a:solidFill>
              </a:rPr>
              <a:t>Build Order &amp; Sequencing Logic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DDDC3F-15E8-48DD-82FC-758047BF88DE}"/>
              </a:ext>
            </a:extLst>
          </p:cNvPr>
          <p:cNvSpPr/>
          <p:nvPr/>
        </p:nvSpPr>
        <p:spPr>
          <a:xfrm>
            <a:off x="1041400" y="2387600"/>
            <a:ext cx="50800" cy="812800"/>
          </a:xfrm>
          <a:prstGeom prst="rect">
            <a:avLst/>
          </a:prstGeom>
          <a:solidFill>
            <a:srgbClr val="D8DC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D8DCE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D8FE9C-7C42-4066-A42D-E1E3CF017BBF}"/>
              </a:ext>
            </a:extLst>
          </p:cNvPr>
          <p:cNvSpPr/>
          <p:nvPr/>
        </p:nvSpPr>
        <p:spPr>
          <a:xfrm>
            <a:off x="762000" y="1930400"/>
            <a:ext cx="609600" cy="609600"/>
          </a:xfrm>
          <a:prstGeom prst="ellipse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7AC6886-7594-4EE8-8127-E17FF7437864}"/>
              </a:ext>
            </a:extLst>
          </p:cNvPr>
          <p:cNvSpPr/>
          <p:nvPr/>
        </p:nvSpPr>
        <p:spPr>
          <a:xfrm>
            <a:off x="1651000" y="1879600"/>
            <a:ext cx="10033000" cy="7112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90DB4-50F1-4C53-8D09-B9E3D093EC11}"/>
              </a:ext>
            </a:extLst>
          </p:cNvPr>
          <p:cNvSpPr txBox="1"/>
          <p:nvPr/>
        </p:nvSpPr>
        <p:spPr>
          <a:xfrm>
            <a:off x="1905000" y="190500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F1F2E"/>
                </a:solidFill>
              </a:rPr>
              <a:t>Fix Track B's two bugs</a:t>
            </a:r>
            <a:endParaRPr lang="en-IN" sz="1600" b="1">
              <a:solidFill>
                <a:srgbClr val="0F1F2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DA916A-37E5-4538-89B0-9B06A2E727C8}"/>
              </a:ext>
            </a:extLst>
          </p:cNvPr>
          <p:cNvSpPr txBox="1"/>
          <p:nvPr/>
        </p:nvSpPr>
        <p:spPr>
          <a:xfrm>
            <a:off x="1905000" y="22225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4550"/>
                </a:solidFill>
              </a:rPr>
              <a:t>destination_id field + LOW→unknown fallback correction — nothing downstream can be tested until these land.</a:t>
            </a:r>
            <a:endParaRPr lang="en-IN" sz="1400">
              <a:solidFill>
                <a:srgbClr val="3A45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75282A-4DA8-49A2-BE11-368D62684BB5}"/>
              </a:ext>
            </a:extLst>
          </p:cNvPr>
          <p:cNvSpPr/>
          <p:nvPr/>
        </p:nvSpPr>
        <p:spPr>
          <a:xfrm>
            <a:off x="1041400" y="3251200"/>
            <a:ext cx="50800" cy="812800"/>
          </a:xfrm>
          <a:prstGeom prst="rect">
            <a:avLst/>
          </a:prstGeom>
          <a:solidFill>
            <a:srgbClr val="D8DC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D8DCE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1F97F2-F6D1-44B4-A969-360093A6E324}"/>
              </a:ext>
            </a:extLst>
          </p:cNvPr>
          <p:cNvSpPr/>
          <p:nvPr/>
        </p:nvSpPr>
        <p:spPr>
          <a:xfrm>
            <a:off x="762000" y="2794000"/>
            <a:ext cx="609600" cy="609600"/>
          </a:xfrm>
          <a:prstGeom prst="ellipse">
            <a:avLst/>
          </a:prstGeom>
          <a:solidFill>
            <a:srgbClr val="2647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6C0804-7AED-4A16-A132-89243678477B}"/>
              </a:ext>
            </a:extLst>
          </p:cNvPr>
          <p:cNvSpPr/>
          <p:nvPr/>
        </p:nvSpPr>
        <p:spPr>
          <a:xfrm>
            <a:off x="1651000" y="2743200"/>
            <a:ext cx="10033000" cy="7112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F603F-46CB-4CDA-B505-8FE128D7E7BB}"/>
              </a:ext>
            </a:extLst>
          </p:cNvPr>
          <p:cNvSpPr txBox="1"/>
          <p:nvPr/>
        </p:nvSpPr>
        <p:spPr>
          <a:xfrm>
            <a:off x="1905000" y="276860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F1F2E"/>
                </a:solidFill>
              </a:rPr>
              <a:t>Stand up the Barrier State Store</a:t>
            </a:r>
            <a:endParaRPr lang="en-IN" sz="1600" b="1">
              <a:solidFill>
                <a:srgbClr val="0F1F2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9EC247-3B2C-4030-B073-AA5775552FCF}"/>
              </a:ext>
            </a:extLst>
          </p:cNvPr>
          <p:cNvSpPr txBox="1"/>
          <p:nvPr/>
        </p:nvSpPr>
        <p:spPr>
          <a:xfrm>
            <a:off x="1905000" y="30861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4550"/>
                </a:solidFill>
              </a:rPr>
              <a:t>The connective tissue between Track B and Track A — TTL-based, in-memory.</a:t>
            </a:r>
            <a:endParaRPr lang="en-IN" sz="1400">
              <a:solidFill>
                <a:srgbClr val="3A455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CF953A-6933-4625-8BFA-C793A2173B47}"/>
              </a:ext>
            </a:extLst>
          </p:cNvPr>
          <p:cNvSpPr/>
          <p:nvPr/>
        </p:nvSpPr>
        <p:spPr>
          <a:xfrm>
            <a:off x="1041400" y="4114800"/>
            <a:ext cx="50800" cy="812800"/>
          </a:xfrm>
          <a:prstGeom prst="rect">
            <a:avLst/>
          </a:prstGeom>
          <a:solidFill>
            <a:srgbClr val="D8DC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D8DCE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F15A599-6009-448F-A47C-EF2FF7EDB6A9}"/>
              </a:ext>
            </a:extLst>
          </p:cNvPr>
          <p:cNvSpPr/>
          <p:nvPr/>
        </p:nvSpPr>
        <p:spPr>
          <a:xfrm>
            <a:off x="762000" y="3657600"/>
            <a:ext cx="609600" cy="609600"/>
          </a:xfrm>
          <a:prstGeom prst="ellipse">
            <a:avLst/>
          </a:prstGeom>
          <a:solidFill>
            <a:srgbClr val="6C63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93C212-94F4-4074-AF2A-C5166F4166ED}"/>
              </a:ext>
            </a:extLst>
          </p:cNvPr>
          <p:cNvSpPr/>
          <p:nvPr/>
        </p:nvSpPr>
        <p:spPr>
          <a:xfrm>
            <a:off x="1651000" y="3606800"/>
            <a:ext cx="10033000" cy="7112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91610E-6488-4E74-B9E8-C4E39DA25549}"/>
              </a:ext>
            </a:extLst>
          </p:cNvPr>
          <p:cNvSpPr txBox="1"/>
          <p:nvPr/>
        </p:nvSpPr>
        <p:spPr>
          <a:xfrm>
            <a:off x="1905000" y="363220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F1F2E"/>
                </a:solidFill>
              </a:rPr>
              <a:t>Build Track A against a hand-curated JSON dataset</a:t>
            </a:r>
            <a:endParaRPr lang="en-IN" sz="1600" b="1">
              <a:solidFill>
                <a:srgbClr val="0F1F2E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25515E-64D0-4471-BACE-DA52B6518F87}"/>
              </a:ext>
            </a:extLst>
          </p:cNvPr>
          <p:cNvSpPr txBox="1"/>
          <p:nvPr/>
        </p:nvSpPr>
        <p:spPr>
          <a:xfrm>
            <a:off x="1905000" y="39497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4550"/>
                </a:solidFill>
              </a:rPr>
              <a:t>Not the full ingestion pipeline — this workstream is unblocked immediately rather than waiting on data engineering.</a:t>
            </a:r>
            <a:endParaRPr lang="en-IN" sz="1400">
              <a:solidFill>
                <a:srgbClr val="3A45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FD6CCC-47AA-416B-8F06-629AC9977526}"/>
              </a:ext>
            </a:extLst>
          </p:cNvPr>
          <p:cNvSpPr/>
          <p:nvPr/>
        </p:nvSpPr>
        <p:spPr>
          <a:xfrm>
            <a:off x="1041400" y="4978400"/>
            <a:ext cx="50800" cy="812800"/>
          </a:xfrm>
          <a:prstGeom prst="rect">
            <a:avLst/>
          </a:prstGeom>
          <a:solidFill>
            <a:srgbClr val="D8DC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D8DCE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CCA775A-98A1-4BD8-AA3D-C7CEF23CC02F}"/>
              </a:ext>
            </a:extLst>
          </p:cNvPr>
          <p:cNvSpPr/>
          <p:nvPr/>
        </p:nvSpPr>
        <p:spPr>
          <a:xfrm>
            <a:off x="762000" y="4521200"/>
            <a:ext cx="609600" cy="609600"/>
          </a:xfrm>
          <a:prstGeom prst="ellipse">
            <a:avLst/>
          </a:prstGeom>
          <a:solidFill>
            <a:srgbClr val="2F855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09AA54D-AA81-43EB-B881-4082FEE5C1DB}"/>
              </a:ext>
            </a:extLst>
          </p:cNvPr>
          <p:cNvSpPr/>
          <p:nvPr/>
        </p:nvSpPr>
        <p:spPr>
          <a:xfrm>
            <a:off x="1651000" y="4470400"/>
            <a:ext cx="10033000" cy="711200"/>
          </a:xfrm>
          <a:prstGeom prst="roundRect">
            <a:avLst/>
          </a:prstGeom>
          <a:solidFill>
            <a:srgbClr val="F6F8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948930-F920-4595-9A68-3B4D5ADD8453}"/>
              </a:ext>
            </a:extLst>
          </p:cNvPr>
          <p:cNvSpPr txBox="1"/>
          <p:nvPr/>
        </p:nvSpPr>
        <p:spPr>
          <a:xfrm>
            <a:off x="1905000" y="449580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0F1F2E"/>
                </a:solidFill>
              </a:rPr>
              <a:t>Add NLP templating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980781-DB5C-4EC3-A250-2628A0D0BA81}"/>
              </a:ext>
            </a:extLst>
          </p:cNvPr>
          <p:cNvSpPr txBox="1"/>
          <p:nvPr/>
        </p:nvSpPr>
        <p:spPr>
          <a:xfrm>
            <a:off x="1905000" y="48133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4550"/>
                </a:solidFill>
              </a:rPr>
              <a:t>Added last — the lowest-effort, non-blocking piece of the chain.</a:t>
            </a:r>
            <a:endParaRPr lang="en-IN" sz="1400">
              <a:solidFill>
                <a:srgbClr val="3A455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5F693D-47A7-4BF9-885E-936BFDA8E491}"/>
              </a:ext>
            </a:extLst>
          </p:cNvPr>
          <p:cNvSpPr/>
          <p:nvPr/>
        </p:nvSpPr>
        <p:spPr>
          <a:xfrm>
            <a:off x="762000" y="5384800"/>
            <a:ext cx="609600" cy="609600"/>
          </a:xfrm>
          <a:prstGeom prst="ellipse">
            <a:avLst/>
          </a:prstGeom>
          <a:solidFill>
            <a:srgbClr val="5B606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C457E44-6E67-4938-8661-69A9016730E1}"/>
              </a:ext>
            </a:extLst>
          </p:cNvPr>
          <p:cNvSpPr/>
          <p:nvPr/>
        </p:nvSpPr>
        <p:spPr>
          <a:xfrm>
            <a:off x="1651000" y="5334000"/>
            <a:ext cx="10033000" cy="711200"/>
          </a:xfrm>
          <a:prstGeom prst="roundRect">
            <a:avLst/>
          </a:prstGeom>
          <a:solidFill>
            <a:srgbClr val="F6F8FA"/>
          </a:solidFill>
          <a:ln w="15875" cap="flat" cmpd="sng" algn="ctr">
            <a:solidFill>
              <a:srgbClr val="C9CDD3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F504DE-BB67-44BE-81AE-88C62FF7626E}"/>
              </a:ext>
            </a:extLst>
          </p:cNvPr>
          <p:cNvSpPr txBox="1"/>
          <p:nvPr/>
        </p:nvSpPr>
        <p:spPr>
          <a:xfrm>
            <a:off x="1905000" y="535940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0F1F2E"/>
                </a:solidFill>
              </a:rPr>
              <a:t>Full OSM / Wikidata ingestion pipeline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64C763-04B6-4449-856C-4D79A9F98EEF}"/>
              </a:ext>
            </a:extLst>
          </p:cNvPr>
          <p:cNvSpPr txBox="1"/>
          <p:nvPr/>
        </p:nvSpPr>
        <p:spPr>
          <a:xfrm>
            <a:off x="1905000" y="5676900"/>
            <a:ext cx="952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A4550"/>
                </a:solidFill>
              </a:rPr>
              <a:t>Stretch goal — built only after the core loop works end-to-end.</a:t>
            </a:r>
            <a:endParaRPr lang="en-IN" sz="1400">
              <a:solidFill>
                <a:srgbClr val="3A455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32196-5AC8-4501-B625-05F3C8F71C11}"/>
              </a:ext>
            </a:extLst>
          </p:cNvPr>
          <p:cNvSpPr txBox="1"/>
          <p:nvPr/>
        </p:nvSpPr>
        <p:spPr>
          <a:xfrm>
            <a:off x="9906000" y="5334000"/>
            <a:ext cx="1651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8A8F98"/>
                </a:solidFill>
              </a:rPr>
              <a:t>STRETCH GOAL</a:t>
            </a:r>
          </a:p>
        </p:txBody>
      </p:sp>
    </p:spTree>
    <p:extLst>
      <p:ext uri="{BB962C8B-B14F-4D97-AF65-F5344CB8AC3E}">
        <p14:creationId xmlns:p14="http://schemas.microsoft.com/office/powerpoint/2010/main" val="2553769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76BC-AE5D-B117-6190-32BFED22A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Team Ownership Mapping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8B59BD-B9B0-4AF2-9B62-7789914D8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51008"/>
              </p:ext>
            </p:extLst>
          </p:nvPr>
        </p:nvGraphicFramePr>
        <p:xfrm>
          <a:off x="508000" y="1930400"/>
          <a:ext cx="11175999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1565426471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2922859105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22194898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Workstream</a:t>
                      </a:r>
                    </a:p>
                  </a:txBody>
                  <a:tcPr anchor="ctr">
                    <a:solidFill>
                      <a:srgbClr val="0F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0F1F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Demoable Output</a:t>
                      </a:r>
                    </a:p>
                  </a:txBody>
                  <a:tcPr anchor="ctr">
                    <a:solidFill>
                      <a:srgbClr val="0F1F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52107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Data ingestion pipeline (OSM / data.gov.in / Wikidata)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998B"/>
                          </a:solidFill>
                        </a:rPr>
                        <a:t>Backend / Data Engineer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Cleaned destination dataset + embeddings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86681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Track B — CV crowd detection service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998B"/>
                          </a:solidFill>
                        </a:rPr>
                        <a:t>CV Specialist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Working crowd-count endpoint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464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Track A — embedding + ranking engine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998B"/>
                          </a:solidFill>
                        </a:rPr>
                        <a:t>ML Specialist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Ranked list of alternatives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28635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NLP explainability layer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998B"/>
                          </a:solidFill>
                        </a:rPr>
                        <a:t>NLP Specialist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Plain-language reason per recommendation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67932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API layer + Barrier State Store integration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1B998B"/>
                          </a:solidFill>
                        </a:rPr>
                        <a:t>Backend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Live request/response loop</a:t>
                      </a:r>
                    </a:p>
                  </a:txBody>
                  <a:tcPr anchor="ctr">
                    <a:solidFill>
                      <a:srgbClr val="EE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0835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2D9DCD-160E-431B-A10D-CC8155A5678D}"/>
              </a:ext>
            </a:extLst>
          </p:cNvPr>
          <p:cNvSpPr txBox="1"/>
          <p:nvPr/>
        </p:nvSpPr>
        <p:spPr>
          <a:xfrm>
            <a:off x="508000" y="5943600"/>
            <a:ext cx="11176000" cy="508000"/>
          </a:xfrm>
          <a:prstGeom prst="rect">
            <a:avLst/>
          </a:prstGeom>
          <a:solidFill>
            <a:srgbClr val="0F1F2E"/>
          </a:solidFill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Every member owns a distinct, demoable workstream — no filler roles.</a:t>
            </a:r>
            <a:endParaRPr lang="en-IN" sz="1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174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CD05-5CC9-62B2-9AE1-5DCB5723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Live Demo Execution Plan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7D0A9E-C560-43B8-A94A-F8D7383DA44D}"/>
              </a:ext>
            </a:extLst>
          </p:cNvPr>
          <p:cNvSpPr/>
          <p:nvPr/>
        </p:nvSpPr>
        <p:spPr>
          <a:xfrm>
            <a:off x="571500" y="1930400"/>
            <a:ext cx="2540000" cy="8382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1B99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0F1F2E"/>
                </a:solidFill>
              </a:rPr>
              <a:t>Judge photographs
a crowd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5F6787B-19E9-46B3-8443-99E246E0892D}"/>
              </a:ext>
            </a:extLst>
          </p:cNvPr>
          <p:cNvSpPr/>
          <p:nvPr/>
        </p:nvSpPr>
        <p:spPr>
          <a:xfrm>
            <a:off x="419100" y="1778000"/>
            <a:ext cx="330200" cy="330200"/>
          </a:xfrm>
          <a:prstGeom prst="ellipse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F972912-93D1-4619-AD38-31118857D2AA}"/>
              </a:ext>
            </a:extLst>
          </p:cNvPr>
          <p:cNvSpPr/>
          <p:nvPr/>
        </p:nvSpPr>
        <p:spPr>
          <a:xfrm>
            <a:off x="3162300" y="2209800"/>
            <a:ext cx="254000" cy="304800"/>
          </a:xfrm>
          <a:prstGeom prst="rightArrow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93B5B0-C14E-4029-BF7A-4C737E25AE62}"/>
              </a:ext>
            </a:extLst>
          </p:cNvPr>
          <p:cNvSpPr/>
          <p:nvPr/>
        </p:nvSpPr>
        <p:spPr>
          <a:xfrm>
            <a:off x="3416300" y="1930400"/>
            <a:ext cx="2540000" cy="8382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1B99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F1F2E"/>
                </a:solidFill>
              </a:rPr>
              <a:t>Photo uploaded
to the system</a:t>
            </a:r>
            <a:endParaRPr lang="en-IN" sz="1400">
              <a:solidFill>
                <a:srgbClr val="0F1F2E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DD98B6-3054-4ABB-8B76-52292F2A36C3}"/>
              </a:ext>
            </a:extLst>
          </p:cNvPr>
          <p:cNvSpPr/>
          <p:nvPr/>
        </p:nvSpPr>
        <p:spPr>
          <a:xfrm>
            <a:off x="3263900" y="1778000"/>
            <a:ext cx="330200" cy="330200"/>
          </a:xfrm>
          <a:prstGeom prst="ellipse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C2C3DD7-5F7A-46B2-B89C-981447F86084}"/>
              </a:ext>
            </a:extLst>
          </p:cNvPr>
          <p:cNvSpPr/>
          <p:nvPr/>
        </p:nvSpPr>
        <p:spPr>
          <a:xfrm>
            <a:off x="6007100" y="2209800"/>
            <a:ext cx="254000" cy="304800"/>
          </a:xfrm>
          <a:prstGeom prst="rightArrow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13F51E-C524-4BEA-A456-17F380227A66}"/>
              </a:ext>
            </a:extLst>
          </p:cNvPr>
          <p:cNvSpPr/>
          <p:nvPr/>
        </p:nvSpPr>
        <p:spPr>
          <a:xfrm>
            <a:off x="6261100" y="1930400"/>
            <a:ext cx="2413000" cy="8382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1B99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0F1F2E"/>
                </a:solidFill>
              </a:rPr>
              <a:t>Track B runs
inference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50663D-7B0A-43A7-9E78-88439786628A}"/>
              </a:ext>
            </a:extLst>
          </p:cNvPr>
          <p:cNvSpPr/>
          <p:nvPr/>
        </p:nvSpPr>
        <p:spPr>
          <a:xfrm>
            <a:off x="6108700" y="1778000"/>
            <a:ext cx="330200" cy="330200"/>
          </a:xfrm>
          <a:prstGeom prst="ellipse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5BA3F48-064D-46B6-B7F8-A0DCFC22D28A}"/>
              </a:ext>
            </a:extLst>
          </p:cNvPr>
          <p:cNvSpPr/>
          <p:nvPr/>
        </p:nvSpPr>
        <p:spPr>
          <a:xfrm>
            <a:off x="8724900" y="2209800"/>
            <a:ext cx="254000" cy="304800"/>
          </a:xfrm>
          <a:prstGeom prst="rightArrow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15398C-51DB-4CC6-9877-B2992F3F712E}"/>
              </a:ext>
            </a:extLst>
          </p:cNvPr>
          <p:cNvSpPr/>
          <p:nvPr/>
        </p:nvSpPr>
        <p:spPr>
          <a:xfrm>
            <a:off x="9029700" y="1930400"/>
            <a:ext cx="2540000" cy="8382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1B99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F1F2E"/>
                </a:solidFill>
              </a:rPr>
              <a:t>Barrier triggers if
HIGH / VERY_HIGH</a:t>
            </a:r>
            <a:endParaRPr lang="en-IN" sz="1400">
              <a:solidFill>
                <a:srgbClr val="0F1F2E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0E24C4-7766-45E9-9D8E-E6114EB61BB6}"/>
              </a:ext>
            </a:extLst>
          </p:cNvPr>
          <p:cNvSpPr/>
          <p:nvPr/>
        </p:nvSpPr>
        <p:spPr>
          <a:xfrm>
            <a:off x="8877300" y="1778000"/>
            <a:ext cx="330200" cy="330200"/>
          </a:xfrm>
          <a:prstGeom prst="ellipse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C3F805-591D-4D66-A31C-D5002C21C704}"/>
              </a:ext>
            </a:extLst>
          </p:cNvPr>
          <p:cNvSpPr/>
          <p:nvPr/>
        </p:nvSpPr>
        <p:spPr>
          <a:xfrm>
            <a:off x="508000" y="4445000"/>
            <a:ext cx="5461000" cy="1778000"/>
          </a:xfrm>
          <a:prstGeom prst="roundRect">
            <a:avLst/>
          </a:prstGeom>
          <a:solidFill>
            <a:srgbClr val="FFF6E8"/>
          </a:solidFill>
          <a:ln w="19050" cap="flat" cmpd="sng" algn="ctr">
            <a:solidFill>
              <a:srgbClr val="F2A93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191D36-BB35-41D1-A360-E487BCB542B6}"/>
              </a:ext>
            </a:extLst>
          </p:cNvPr>
          <p:cNvSpPr txBox="1"/>
          <p:nvPr/>
        </p:nvSpPr>
        <p:spPr>
          <a:xfrm>
            <a:off x="698500" y="4572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600" b="1">
                <a:solidFill>
                  <a:srgbClr val="8A6D1E"/>
                </a:solidFill>
              </a:rPr>
              <a:t>The “break it” moment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07874-40B7-4B45-8C61-E1E2F920581B}"/>
              </a:ext>
            </a:extLst>
          </p:cNvPr>
          <p:cNvSpPr txBox="1"/>
          <p:nvPr/>
        </p:nvSpPr>
        <p:spPr>
          <a:xfrm>
            <a:off x="698500" y="49784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3A2E0E"/>
                </a:solidFill>
              </a:rPr>
              <a:t>A judge is invited to test edge cases live: an empty hallway, a poster of faces, a sparse group. The goal is to show honest failure-mode handling — not a cherry-picked success case.</a:t>
            </a:r>
            <a:endParaRPr lang="en-IN" sz="1400">
              <a:solidFill>
                <a:srgbClr val="3A2E0E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B08DCD4-BE39-47D8-B137-AF6F9ABAEB9D}"/>
              </a:ext>
            </a:extLst>
          </p:cNvPr>
          <p:cNvSpPr/>
          <p:nvPr/>
        </p:nvSpPr>
        <p:spPr>
          <a:xfrm>
            <a:off x="6223000" y="4445000"/>
            <a:ext cx="5461000" cy="1778000"/>
          </a:xfrm>
          <a:prstGeom prst="roundRect">
            <a:avLst/>
          </a:prstGeom>
          <a:solidFill>
            <a:srgbClr val="EAF0FB"/>
          </a:solidFill>
          <a:ln w="19050" cap="flat" cmpd="sng" algn="ctr">
            <a:solidFill>
              <a:srgbClr val="3B6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0F1F2E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AF8DB9-CF53-4A8E-B22A-86F0DDD3DCD9}"/>
              </a:ext>
            </a:extLst>
          </p:cNvPr>
          <p:cNvSpPr txBox="1"/>
          <p:nvPr/>
        </p:nvSpPr>
        <p:spPr>
          <a:xfrm>
            <a:off x="6413500" y="4572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600" b="1">
                <a:solidFill>
                  <a:srgbClr val="1F3E9E"/>
                </a:solidFill>
              </a:rPr>
              <a:t>Fallback plan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CECBD5-B359-4678-B747-5BBF5FC5998C}"/>
              </a:ext>
            </a:extLst>
          </p:cNvPr>
          <p:cNvSpPr txBox="1"/>
          <p:nvPr/>
        </p:nvSpPr>
        <p:spPr>
          <a:xfrm>
            <a:off x="6413500" y="49784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F2E"/>
                </a:solidFill>
              </a:rPr>
              <a:t>Pre-loaded test images are ready in case live capture or venue connectivity fails, so the full loop — detection through reroute through explanation — can still run end-to-end.</a:t>
            </a:r>
            <a:endParaRPr lang="en-IN" sz="1400">
              <a:solidFill>
                <a:srgbClr val="0F1F2E"/>
              </a:solidFill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611F43A-88C3-4355-8118-68AAF7B41BB1}"/>
              </a:ext>
            </a:extLst>
          </p:cNvPr>
          <p:cNvSpPr/>
          <p:nvPr/>
        </p:nvSpPr>
        <p:spPr>
          <a:xfrm>
            <a:off x="10147300" y="2768600"/>
            <a:ext cx="304800" cy="355600"/>
          </a:xfrm>
          <a:prstGeom prst="downArrow">
            <a:avLst/>
          </a:prstGeom>
          <a:solidFill>
            <a:srgbClr val="0F6F6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BB8E8E-79DC-4893-9993-DA364ECB20EE}"/>
              </a:ext>
            </a:extLst>
          </p:cNvPr>
          <p:cNvSpPr/>
          <p:nvPr/>
        </p:nvSpPr>
        <p:spPr>
          <a:xfrm>
            <a:off x="8572500" y="3175000"/>
            <a:ext cx="3048000" cy="8382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3B6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0F1F2E"/>
                </a:solidFill>
              </a:rPr>
              <a:t>Track A ranks alternatives
(judge drags similarity/
distance slider live)</a:t>
            </a:r>
            <a:endParaRPr lang="en-IN" sz="1400">
              <a:solidFill>
                <a:srgbClr val="0F1F2E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364A0E0-14C1-457A-9FC4-53C3E11CAC7E}"/>
              </a:ext>
            </a:extLst>
          </p:cNvPr>
          <p:cNvSpPr/>
          <p:nvPr/>
        </p:nvSpPr>
        <p:spPr>
          <a:xfrm>
            <a:off x="8420100" y="3022600"/>
            <a:ext cx="330200" cy="330200"/>
          </a:xfrm>
          <a:prstGeom prst="ellipse">
            <a:avLst/>
          </a:prstGeom>
          <a:solidFill>
            <a:srgbClr val="2647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Arrow: Left 30">
            <a:extLst>
              <a:ext uri="{FF2B5EF4-FFF2-40B4-BE49-F238E27FC236}">
                <a16:creationId xmlns:a16="http://schemas.microsoft.com/office/drawing/2014/main" id="{281B646B-C808-4D41-8818-17AAD65EE632}"/>
              </a:ext>
            </a:extLst>
          </p:cNvPr>
          <p:cNvSpPr/>
          <p:nvPr/>
        </p:nvSpPr>
        <p:spPr>
          <a:xfrm>
            <a:off x="8318500" y="3441700"/>
            <a:ext cx="254000" cy="304800"/>
          </a:xfrm>
          <a:prstGeom prst="leftArrow">
            <a:avLst/>
          </a:prstGeom>
          <a:solidFill>
            <a:srgbClr val="2647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FD18FFF-BB2C-47E0-AA22-529002578212}"/>
              </a:ext>
            </a:extLst>
          </p:cNvPr>
          <p:cNvSpPr/>
          <p:nvPr/>
        </p:nvSpPr>
        <p:spPr>
          <a:xfrm>
            <a:off x="5219700" y="3175000"/>
            <a:ext cx="3048000" cy="8382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3B6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0F1F2E"/>
                </a:solidFill>
              </a:rPr>
              <a:t>Map shows
the reroute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7545A23-F251-4074-9EB7-16F0BF859C49}"/>
              </a:ext>
            </a:extLst>
          </p:cNvPr>
          <p:cNvSpPr/>
          <p:nvPr/>
        </p:nvSpPr>
        <p:spPr>
          <a:xfrm>
            <a:off x="5067300" y="3022600"/>
            <a:ext cx="330200" cy="330200"/>
          </a:xfrm>
          <a:prstGeom prst="ellipse">
            <a:avLst/>
          </a:prstGeom>
          <a:solidFill>
            <a:srgbClr val="2647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Arrow: Left 33">
            <a:extLst>
              <a:ext uri="{FF2B5EF4-FFF2-40B4-BE49-F238E27FC236}">
                <a16:creationId xmlns:a16="http://schemas.microsoft.com/office/drawing/2014/main" id="{E2B55F73-165A-42EC-9009-6954AE4E4884}"/>
              </a:ext>
            </a:extLst>
          </p:cNvPr>
          <p:cNvSpPr/>
          <p:nvPr/>
        </p:nvSpPr>
        <p:spPr>
          <a:xfrm>
            <a:off x="4965700" y="3441700"/>
            <a:ext cx="254000" cy="304800"/>
          </a:xfrm>
          <a:prstGeom prst="leftArrow">
            <a:avLst/>
          </a:prstGeom>
          <a:solidFill>
            <a:srgbClr val="2647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5145C69-8CCE-4951-875F-06CB2E34CD35}"/>
              </a:ext>
            </a:extLst>
          </p:cNvPr>
          <p:cNvSpPr/>
          <p:nvPr/>
        </p:nvSpPr>
        <p:spPr>
          <a:xfrm>
            <a:off x="1866900" y="3175000"/>
            <a:ext cx="3048000" cy="8382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3B6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IN" sz="1400">
                <a:solidFill>
                  <a:srgbClr val="0F1F2E"/>
                </a:solidFill>
              </a:rPr>
              <a:t>NLP reason
read aloud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210D321-33FB-435A-9434-DE0D005EB6D9}"/>
              </a:ext>
            </a:extLst>
          </p:cNvPr>
          <p:cNvSpPr/>
          <p:nvPr/>
        </p:nvSpPr>
        <p:spPr>
          <a:xfrm>
            <a:off x="1714500" y="3022600"/>
            <a:ext cx="330200" cy="330200"/>
          </a:xfrm>
          <a:prstGeom prst="ellipse">
            <a:avLst/>
          </a:prstGeom>
          <a:solidFill>
            <a:srgbClr val="2647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61573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C2EA-6672-F07B-CB6C-1F9F8BAE4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Risk Management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CE80B5-44A6-4627-BBE8-1C3A10E92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499739"/>
              </p:ext>
            </p:extLst>
          </p:nvPr>
        </p:nvGraphicFramePr>
        <p:xfrm>
          <a:off x="508000" y="1905000"/>
          <a:ext cx="11176000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8000">
                  <a:extLst>
                    <a:ext uri="{9D8B030D-6E8A-4147-A177-3AD203B41FA5}">
                      <a16:colId xmlns:a16="http://schemas.microsoft.com/office/drawing/2014/main" val="3866481260"/>
                    </a:ext>
                  </a:extLst>
                </a:gridCol>
                <a:gridCol w="5588000">
                  <a:extLst>
                    <a:ext uri="{9D8B030D-6E8A-4147-A177-3AD203B41FA5}">
                      <a16:colId xmlns:a16="http://schemas.microsoft.com/office/drawing/2014/main" val="110868364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anchor="ctr">
                    <a:solidFill>
                      <a:srgbClr val="8A6D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anchor="ctr">
                    <a:solidFill>
                      <a:srgbClr val="8A6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71005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F1F2E"/>
                          </a:solidFill>
                        </a:rPr>
                        <a:t>Category-specific crowd thresholds not yet calibrated</a:t>
                      </a:r>
                    </a:p>
                  </a:txBody>
                  <a:tcPr anchor="ctr">
                    <a:solidFill>
                      <a:srgbClr val="F3ED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Validate against academic crowd datasets before demo</a:t>
                      </a:r>
                    </a:p>
                  </a:txBody>
                  <a:tcPr anchor="ctr">
                    <a:solidFill>
                      <a:srgbClr val="F3E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0561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F1F2E"/>
                          </a:solidFill>
                        </a:rPr>
                        <a:t>Embedding-based similarity can surface thematically odd matches</a:t>
                      </a:r>
                    </a:p>
                  </a:txBody>
                  <a:tcPr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Manual spot-check of top candidates per major destination, pre-demo</a:t>
                      </a:r>
                    </a:p>
                  </a:txBody>
                  <a:tcPr anchor="ctr">
                    <a:solidFill>
                      <a:srgbClr val="FB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5662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F1F2E"/>
                          </a:solidFill>
                        </a:rPr>
                        <a:t>Live venue connectivity risk</a:t>
                      </a:r>
                    </a:p>
                  </a:txBody>
                  <a:tcPr anchor="ctr">
                    <a:solidFill>
                      <a:srgbClr val="F3ED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Pre-loaded fallback images; offline path tested in advance</a:t>
                      </a:r>
                    </a:p>
                  </a:txBody>
                  <a:tcPr anchor="ctr">
                    <a:solidFill>
                      <a:srgbClr val="F3ED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9328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F1F2E"/>
                          </a:solidFill>
                        </a:rPr>
                        <a:t>CV accuracy ceiling on very dense / occluded scenes</a:t>
                      </a:r>
                    </a:p>
                  </a:txBody>
                  <a:tcPr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solidFill>
                            <a:srgbClr val="0F1F2E"/>
                          </a:solidFill>
                        </a:rPr>
                        <a:t>Stated honestly as a known industry-wide limitation — not hidden</a:t>
                      </a:r>
                    </a:p>
                  </a:txBody>
                  <a:tcPr anchor="ctr">
                    <a:solidFill>
                      <a:srgbClr val="FB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4742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0FA8F5B-D23C-4DB6-B5C6-155E34DD26BC}"/>
              </a:ext>
            </a:extLst>
          </p:cNvPr>
          <p:cNvSpPr txBox="1"/>
          <p:nvPr/>
        </p:nvSpPr>
        <p:spPr>
          <a:xfrm>
            <a:off x="508000" y="6172200"/>
            <a:ext cx="11176000" cy="457200"/>
          </a:xfrm>
          <a:prstGeom prst="rect">
            <a:avLst/>
          </a:prstGeom>
          <a:solidFill>
            <a:srgbClr val="0F1F2E"/>
          </a:solidFill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400" b="1" i="1">
                <a:solidFill>
                  <a:srgbClr val="FFFFFF"/>
                </a:solidFill>
              </a:rPr>
              <a:t>Every known limitation is named here — none is hidden from judges or discovered live.</a:t>
            </a:r>
            <a:endParaRPr lang="en-IN" sz="1400" b="1" i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65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ADC99-6A0B-BEF9-D97F-51C9BF44C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Impact &amp; Who This Serves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A8483F-09B3-4DB7-945C-E3461743B0F8}"/>
              </a:ext>
            </a:extLst>
          </p:cNvPr>
          <p:cNvSpPr/>
          <p:nvPr/>
        </p:nvSpPr>
        <p:spPr>
          <a:xfrm>
            <a:off x="508000" y="2095500"/>
            <a:ext cx="3302000" cy="41910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1B99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2A1EB3-FD59-4ED4-B7AF-A90363F1AAD2}"/>
              </a:ext>
            </a:extLst>
          </p:cNvPr>
          <p:cNvSpPr/>
          <p:nvPr/>
        </p:nvSpPr>
        <p:spPr>
          <a:xfrm>
            <a:off x="508000" y="2095500"/>
            <a:ext cx="3302000" cy="101600"/>
          </a:xfrm>
          <a:prstGeom prst="rect">
            <a:avLst/>
          </a:prstGeom>
          <a:solidFill>
            <a:srgbClr val="1B998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1B998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A1FA2-8A79-4492-8968-8936EB96CD4A}"/>
              </a:ext>
            </a:extLst>
          </p:cNvPr>
          <p:cNvSpPr txBox="1"/>
          <p:nvPr/>
        </p:nvSpPr>
        <p:spPr>
          <a:xfrm>
            <a:off x="762000" y="33020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900" b="1">
                <a:solidFill>
                  <a:srgbClr val="0F1F2E"/>
                </a:solidFill>
              </a:rPr>
              <a:t>Tourists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676A3-2414-476A-9E8D-77A3A9194338}"/>
              </a:ext>
            </a:extLst>
          </p:cNvPr>
          <p:cNvSpPr txBox="1"/>
          <p:nvPr/>
        </p:nvSpPr>
        <p:spPr>
          <a:xfrm>
            <a:off x="762000" y="4064000"/>
            <a:ext cx="2794000" cy="152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Avoid wasted trips to overcrowded sites.
Feel assisted, not surveilled — no ID, no tracking, no registration.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87E5ED-512F-4D4E-B47D-745BFFE3FAD7}"/>
              </a:ext>
            </a:extLst>
          </p:cNvPr>
          <p:cNvSpPr/>
          <p:nvPr/>
        </p:nvSpPr>
        <p:spPr>
          <a:xfrm>
            <a:off x="4318000" y="2095500"/>
            <a:ext cx="3302000" cy="41910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3B6EF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592BB5-131F-4ACD-9D70-96052A127A8E}"/>
              </a:ext>
            </a:extLst>
          </p:cNvPr>
          <p:cNvSpPr/>
          <p:nvPr/>
        </p:nvSpPr>
        <p:spPr>
          <a:xfrm>
            <a:off x="4318000" y="2095500"/>
            <a:ext cx="3302000" cy="101600"/>
          </a:xfrm>
          <a:prstGeom prst="rect">
            <a:avLst/>
          </a:prstGeom>
          <a:solidFill>
            <a:srgbClr val="3B6E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3B6EF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AB22D-0CFC-40FE-B7EE-C16DADE64EA3}"/>
              </a:ext>
            </a:extLst>
          </p:cNvPr>
          <p:cNvSpPr txBox="1"/>
          <p:nvPr/>
        </p:nvSpPr>
        <p:spPr>
          <a:xfrm>
            <a:off x="4572000" y="33020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900" b="1">
                <a:solidFill>
                  <a:srgbClr val="0F1F2E"/>
                </a:solidFill>
              </a:rPr>
              <a:t>Local Economies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7980DF-B142-413F-923B-B7660BEAF762}"/>
              </a:ext>
            </a:extLst>
          </p:cNvPr>
          <p:cNvSpPr txBox="1"/>
          <p:nvPr/>
        </p:nvSpPr>
        <p:spPr>
          <a:xfrm>
            <a:off x="4572000" y="4064000"/>
            <a:ext cx="2794000" cy="152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Footfall redistribution toward under-visited but equally valid destinations.
Revenue reaches places that today get overlooked.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7E094B-BDC7-470A-B661-84A863AF36AC}"/>
              </a:ext>
            </a:extLst>
          </p:cNvPr>
          <p:cNvSpPr/>
          <p:nvPr/>
        </p:nvSpPr>
        <p:spPr>
          <a:xfrm>
            <a:off x="8128000" y="2095500"/>
            <a:ext cx="3302000" cy="4191000"/>
          </a:xfrm>
          <a:prstGeom prst="roundRect">
            <a:avLst/>
          </a:prstGeom>
          <a:solidFill>
            <a:srgbClr val="F6F8FA"/>
          </a:solidFill>
          <a:ln w="19050" cap="flat" cmpd="sng" algn="ctr">
            <a:solidFill>
              <a:srgbClr val="6C63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CB8FC5-003B-463C-8E27-740085E29B34}"/>
              </a:ext>
            </a:extLst>
          </p:cNvPr>
          <p:cNvSpPr/>
          <p:nvPr/>
        </p:nvSpPr>
        <p:spPr>
          <a:xfrm>
            <a:off x="8128000" y="2095500"/>
            <a:ext cx="3302000" cy="101600"/>
          </a:xfrm>
          <a:prstGeom prst="rect">
            <a:avLst/>
          </a:prstGeom>
          <a:solidFill>
            <a:srgbClr val="6C63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6C63A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16CBF-08BE-47C9-BA01-9F9C885F814A}"/>
              </a:ext>
            </a:extLst>
          </p:cNvPr>
          <p:cNvSpPr txBox="1"/>
          <p:nvPr/>
        </p:nvSpPr>
        <p:spPr>
          <a:xfrm>
            <a:off x="8382000" y="33020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900" b="1" dirty="0">
                <a:solidFill>
                  <a:srgbClr val="0F1F2E"/>
                </a:solidFill>
              </a:rPr>
              <a:t>Tourism Boards &amp; Government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7D77F4-6FB6-4BFA-AA72-8AF2BE9291E3}"/>
              </a:ext>
            </a:extLst>
          </p:cNvPr>
          <p:cNvSpPr txBox="1"/>
          <p:nvPr/>
        </p:nvSpPr>
        <p:spPr>
          <a:xfrm>
            <a:off x="8382000" y="4064000"/>
            <a:ext cx="2794000" cy="152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A low-cost, low-data-dependency signal layer.
No new hardware. No registration infrastructure. No pilgrimage-scale rollout needed.</a:t>
            </a:r>
            <a:endParaRPr lang="en-IN" sz="1400">
              <a:solidFill>
                <a:srgbClr val="13324B"/>
              </a:solidFill>
            </a:endParaRPr>
          </a:p>
        </p:txBody>
      </p:sp>
      <p:pic>
        <p:nvPicPr>
          <p:cNvPr id="15" name="Graphic 15" descr="Touris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00" y="2476500"/>
            <a:ext cx="762000" cy="762000"/>
          </a:xfrm>
          <a:prstGeom prst="rect">
            <a:avLst/>
          </a:prstGeom>
        </p:spPr>
      </p:pic>
      <p:pic>
        <p:nvPicPr>
          <p:cNvPr id="16" name="Graphic 16" descr="Local economi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0" y="2476500"/>
            <a:ext cx="762000" cy="762000"/>
          </a:xfrm>
          <a:prstGeom prst="rect">
            <a:avLst/>
          </a:prstGeom>
        </p:spPr>
      </p:pic>
      <p:pic>
        <p:nvPicPr>
          <p:cNvPr id="17" name="Graphic 17" descr="Tourism boards and govern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8000" y="24765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75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9E486-17BE-6DC5-8D41-6862129C2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What's Next — Post-MVP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D3531-FBB8-49BC-AF4C-52C759E912AF}"/>
              </a:ext>
            </a:extLst>
          </p:cNvPr>
          <p:cNvSpPr txBox="1"/>
          <p:nvPr/>
        </p:nvSpPr>
        <p:spPr>
          <a:xfrm>
            <a:off x="508000" y="1841500"/>
            <a:ext cx="1117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B6068"/>
                </a:solidFill>
              </a:rPr>
              <a:t>The following are explicitly out of MVP scope — listed for context, not promised for the demo.</a:t>
            </a:r>
            <a:endParaRPr lang="en-IN" sz="1400" i="1">
              <a:solidFill>
                <a:srgbClr val="5B6068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279A43C-25CC-48C6-8F17-F064C8AAFE5B}"/>
              </a:ext>
            </a:extLst>
          </p:cNvPr>
          <p:cNvSpPr/>
          <p:nvPr/>
        </p:nvSpPr>
        <p:spPr>
          <a:xfrm>
            <a:off x="508000" y="2413000"/>
            <a:ext cx="3556000" cy="1905000"/>
          </a:xfrm>
          <a:prstGeom prst="roundRect">
            <a:avLst/>
          </a:prstGeom>
          <a:solidFill>
            <a:srgbClr val="F6F8FA"/>
          </a:solidFill>
          <a:ln w="12700" cap="flat" cmpd="sng" algn="ctr">
            <a:solidFill>
              <a:srgbClr val="D8DE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C554D-4E3D-48B1-9F95-A67DAA061267}"/>
              </a:ext>
            </a:extLst>
          </p:cNvPr>
          <p:cNvSpPr txBox="1"/>
          <p:nvPr/>
        </p:nvSpPr>
        <p:spPr>
          <a:xfrm>
            <a:off x="711200" y="2590800"/>
            <a:ext cx="314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500" b="1">
                <a:solidFill>
                  <a:srgbClr val="6C63A6"/>
                </a:solidFill>
              </a:rPr>
              <a:t>Bottleneck localization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B5237-2CFD-44BE-B6FC-C80393C260A6}"/>
              </a:ext>
            </a:extLst>
          </p:cNvPr>
          <p:cNvSpPr txBox="1"/>
          <p:nvPr/>
        </p:nvSpPr>
        <p:spPr>
          <a:xfrm>
            <a:off x="711200" y="30226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Pinpointing crowd density within a frame, not just a global count.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721562-BAA9-4A38-8939-2233AF60656E}"/>
              </a:ext>
            </a:extLst>
          </p:cNvPr>
          <p:cNvSpPr/>
          <p:nvPr/>
        </p:nvSpPr>
        <p:spPr>
          <a:xfrm>
            <a:off x="4318000" y="2413000"/>
            <a:ext cx="3556000" cy="1905000"/>
          </a:xfrm>
          <a:prstGeom prst="roundRect">
            <a:avLst/>
          </a:prstGeom>
          <a:solidFill>
            <a:srgbClr val="F6F8FA"/>
          </a:solidFill>
          <a:ln w="12700" cap="flat" cmpd="sng" algn="ctr">
            <a:solidFill>
              <a:srgbClr val="D8DE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B221F-B5F0-44A3-8CEF-EC0A008DAD5C}"/>
              </a:ext>
            </a:extLst>
          </p:cNvPr>
          <p:cNvSpPr txBox="1"/>
          <p:nvPr/>
        </p:nvSpPr>
        <p:spPr>
          <a:xfrm>
            <a:off x="4521200" y="2590800"/>
            <a:ext cx="314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500" b="1">
                <a:solidFill>
                  <a:srgbClr val="6C63A6"/>
                </a:solidFill>
              </a:rPr>
              <a:t>Crowdsourced consensus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26DD4-8D92-4892-9818-4E0E3CE098BB}"/>
              </a:ext>
            </a:extLst>
          </p:cNvPr>
          <p:cNvSpPr txBox="1"/>
          <p:nvPr/>
        </p:nvSpPr>
        <p:spPr>
          <a:xfrm>
            <a:off x="4521200" y="30226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Multiple independent reports before committing a barrier state.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E6E06E-B37B-41D0-864C-F27B8504B164}"/>
              </a:ext>
            </a:extLst>
          </p:cNvPr>
          <p:cNvSpPr/>
          <p:nvPr/>
        </p:nvSpPr>
        <p:spPr>
          <a:xfrm>
            <a:off x="8128000" y="2413000"/>
            <a:ext cx="3556000" cy="1905000"/>
          </a:xfrm>
          <a:prstGeom prst="roundRect">
            <a:avLst/>
          </a:prstGeom>
          <a:solidFill>
            <a:srgbClr val="F6F8FA"/>
          </a:solidFill>
          <a:ln w="12700" cap="flat" cmpd="sng" algn="ctr">
            <a:solidFill>
              <a:srgbClr val="D8DE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57DF4-DF06-4A09-B314-49B34AFCB3C3}"/>
              </a:ext>
            </a:extLst>
          </p:cNvPr>
          <p:cNvSpPr txBox="1"/>
          <p:nvPr/>
        </p:nvSpPr>
        <p:spPr>
          <a:xfrm>
            <a:off x="8331200" y="2590800"/>
            <a:ext cx="314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500" b="1">
                <a:solidFill>
                  <a:srgbClr val="6C63A6"/>
                </a:solidFill>
              </a:rPr>
              <a:t>Intent-based re-ranking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10D53F-838B-4814-BE93-2C0889ED1209}"/>
              </a:ext>
            </a:extLst>
          </p:cNvPr>
          <p:cNvSpPr txBox="1"/>
          <p:nvPr/>
        </p:nvSpPr>
        <p:spPr>
          <a:xfrm>
            <a:off x="8331200" y="30226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Natural-language requests like “something peaceful and less touristy.”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C34A6F-32EE-44E3-9490-C847BAB1722A}"/>
              </a:ext>
            </a:extLst>
          </p:cNvPr>
          <p:cNvSpPr/>
          <p:nvPr/>
        </p:nvSpPr>
        <p:spPr>
          <a:xfrm>
            <a:off x="2413000" y="4572000"/>
            <a:ext cx="3556000" cy="1905000"/>
          </a:xfrm>
          <a:prstGeom prst="roundRect">
            <a:avLst/>
          </a:prstGeom>
          <a:solidFill>
            <a:srgbClr val="F6F8FA"/>
          </a:solidFill>
          <a:ln w="12700" cap="flat" cmpd="sng" algn="ctr">
            <a:solidFill>
              <a:srgbClr val="D8DE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2BABF0-5F13-4FBE-885A-09B0F44AFEF5}"/>
              </a:ext>
            </a:extLst>
          </p:cNvPr>
          <p:cNvSpPr txBox="1"/>
          <p:nvPr/>
        </p:nvSpPr>
        <p:spPr>
          <a:xfrm>
            <a:off x="2616200" y="4749800"/>
            <a:ext cx="314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500" b="1">
                <a:solidFill>
                  <a:srgbClr val="6C63A6"/>
                </a:solidFill>
              </a:rPr>
              <a:t>Accessibility filtering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301437-3834-4039-A9B9-5A4A9C8806D3}"/>
              </a:ext>
            </a:extLst>
          </p:cNvPr>
          <p:cNvSpPr txBox="1"/>
          <p:nvPr/>
        </p:nvSpPr>
        <p:spPr>
          <a:xfrm>
            <a:off x="2616200" y="51816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Using existing OSM tags to filter alternatives by accessibility.</a:t>
            </a:r>
            <a:endParaRPr lang="en-IN" sz="1400">
              <a:solidFill>
                <a:srgbClr val="13324B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0044A9E-C7F9-41C8-B771-01441781FA2E}"/>
              </a:ext>
            </a:extLst>
          </p:cNvPr>
          <p:cNvSpPr/>
          <p:nvPr/>
        </p:nvSpPr>
        <p:spPr>
          <a:xfrm>
            <a:off x="6223000" y="4572000"/>
            <a:ext cx="3556000" cy="1905000"/>
          </a:xfrm>
          <a:prstGeom prst="roundRect">
            <a:avLst/>
          </a:prstGeom>
          <a:solidFill>
            <a:srgbClr val="F6F8FA"/>
          </a:solidFill>
          <a:ln w="12700" cap="flat" cmpd="sng" algn="ctr">
            <a:solidFill>
              <a:srgbClr val="D8DEE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6F8FA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87C851-E34E-41EA-AE20-AF4DE89A638E}"/>
              </a:ext>
            </a:extLst>
          </p:cNvPr>
          <p:cNvSpPr txBox="1"/>
          <p:nvPr/>
        </p:nvSpPr>
        <p:spPr>
          <a:xfrm>
            <a:off x="6426200" y="4749800"/>
            <a:ext cx="314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1500" b="1">
                <a:solidFill>
                  <a:srgbClr val="6C63A6"/>
                </a:solidFill>
              </a:rPr>
              <a:t>Offline-tolerant inference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0CE100-4A0C-4A63-843D-5EDD0B2DD6AF}"/>
              </a:ext>
            </a:extLst>
          </p:cNvPr>
          <p:cNvSpPr txBox="1"/>
          <p:nvPr/>
        </p:nvSpPr>
        <p:spPr>
          <a:xfrm>
            <a:off x="6426200" y="5181600"/>
            <a:ext cx="314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3324B"/>
                </a:solidFill>
              </a:rPr>
              <a:t>On-device inference for low-connectivity pilgrimage sites.</a:t>
            </a:r>
            <a:endParaRPr lang="en-IN" sz="1400">
              <a:solidFill>
                <a:srgbClr val="1332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35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6629119827]">
  <a:themeElements>
    <a:clrScheme name="Office">
      <a:dk1>
        <a:srgbClr val="0F1F2E"/>
      </a:dk1>
      <a:lt1>
        <a:srgbClr val="FFFFFF"/>
      </a:lt1>
      <a:dk2>
        <a:srgbClr val="13324B"/>
      </a:dk2>
      <a:lt2>
        <a:srgbClr val="EEF2F5"/>
      </a:lt2>
      <a:accent1>
        <a:srgbClr val="1B998B"/>
      </a:accent1>
      <a:accent2>
        <a:srgbClr val="E2574C"/>
      </a:accent2>
      <a:accent3>
        <a:srgbClr val="3B6EF2"/>
      </a:accent3>
      <a:accent4>
        <a:srgbClr val="F2A93B"/>
      </a:accent4>
      <a:accent5>
        <a:srgbClr val="6C63A6"/>
      </a:accent5>
      <a:accent6>
        <a:srgbClr val="2F855A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D8C433-B7C6-438E-81F3-0D0ED69B45E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ac00660-be88-4d7f-abc3-5c5dd079ec0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1371</Words>
  <Application>Microsoft Office PowerPoint</Application>
  <PresentationFormat>Widescreen</PresentationFormat>
  <Paragraphs>184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Montserrat</vt:lpstr>
      <vt:lpstr>Open Sans</vt:lpstr>
      <vt:lpstr>Office Theme [1786629119827]</vt:lpstr>
      <vt:lpstr>Tourist Crowd Detection &amp; Alternative Recommendation System</vt:lpstr>
      <vt:lpstr>The Problem</vt:lpstr>
      <vt:lpstr>Why Existing Solutions Don’t Close the Loop</vt:lpstr>
      <vt:lpstr>The Solution — Three Components, One Loop</vt:lpstr>
      <vt:lpstr>What’s Novel — and What Isn’t</vt:lpstr>
      <vt:lpstr>MVP Scope</vt:lpstr>
      <vt:lpstr>Execution</vt:lpstr>
      <vt:lpstr>Architecture &amp; Data Flow</vt:lpstr>
      <vt:lpstr>Model Selection &amp; Why</vt:lpstr>
      <vt:lpstr>Build Order &amp; Sequencing Logic</vt:lpstr>
      <vt:lpstr>Team Ownership Mapping</vt:lpstr>
      <vt:lpstr>Live Demo Execution Plan</vt:lpstr>
      <vt:lpstr>Risk Management</vt:lpstr>
      <vt:lpstr>Impact &amp; Who This Serves</vt:lpstr>
      <vt:lpstr>What's Next — Post-MVP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Deepika Singh</dc:creator>
  <cp:lastModifiedBy>Deepika Singh</cp:lastModifiedBy>
  <cp:revision>3</cp:revision>
  <dcterms:created xsi:type="dcterms:W3CDTF">2026-08-13T13:14:25Z</dcterms:created>
  <dcterms:modified xsi:type="dcterms:W3CDTF">2026-08-13T18:09:53Z</dcterms:modified>
</cp:coreProperties>
</file>